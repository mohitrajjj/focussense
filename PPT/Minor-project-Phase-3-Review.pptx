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2" d="100"/>
          <a:sy n="82" d="100"/>
        </p:scale>
        <p:origin x="972" y="78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417775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128070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206577" name="Google Shape;51;p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393035" name="Google Shape;52;p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947681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52770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762856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819213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09142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082042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184825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714302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360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2847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763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D71D79-32BA-DD6F-4885-8D4CACAE01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762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314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823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EEB322-2952-6878-5A3E-6575817E1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597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0075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8371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4B1F67-0A4B-73C4-15F1-662FA36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63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14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156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179023-4EEE-89CE-51AB-F9860B2FE5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276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65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97D1E4-2BE1-8AD6-F923-D515E7E0AE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882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557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307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58AB93-618F-74D0-636D-4C1B2B964E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3104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7965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818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FA448B-3392-2B8F-D0A7-C5B9721A1B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1199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185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AE8B61-0512-3B84-357A-A96439EAC5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109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9427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13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C4F1C9-24FE-BC23-982B-B44103F552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615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9073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51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B27D8B-8179-A02B-7898-B1890DA56C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7467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1149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978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FABE3B-5426-336D-45A0-C8290682EB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746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0916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980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0D8E7E-9E81-9EF2-4343-D9BC4BF57E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265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70792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337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8A188F-F338-FD1F-694F-B1CBACB1C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06483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818227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576622" name="Google Shape;55;g23d66680d41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09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249897" name="Google Shape;56;g23d66680d41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032224" name="Google Shape;11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574930195" name="Google Shape;12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2120036071" name="Google Shape;13;p2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08743400" name="Google Shape;14;p2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763970" name="Google Shape;16;p3"/>
          <p:cNvSpPr txBox="1">
            <a:spLocks noGrp="1"/>
          </p:cNvSpPr>
          <p:nvPr>
            <p:ph type="title"/>
          </p:nvPr>
        </p:nvSpPr>
        <p:spPr bwMode="auto"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3824127" name="Google Shape;17;p3"/>
          <p:cNvSpPr txBox="1">
            <a:spLocks noGrp="1"/>
          </p:cNvSpPr>
          <p:nvPr>
            <p:ph type="body" idx="1"/>
          </p:nvPr>
        </p:nvSpPr>
        <p:spPr bwMode="auto"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4292722" name="Google Shape;18;p3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79540440" name="Google Shape;19;p3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6983600" y="415175"/>
            <a:ext cx="1974051" cy="30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938882" name="Google Shape;21;p4"/>
          <p:cNvSpPr txBox="1">
            <a:spLocks noGrp="1"/>
          </p:cNvSpPr>
          <p:nvPr>
            <p:ph type="title"/>
          </p:nvPr>
        </p:nvSpPr>
        <p:spPr bwMode="auto"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8249927" name="Google Shape;22;p4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473255275" name="Google Shape;23;p4"/>
          <p:cNvSpPr txBox="1">
            <a:spLocks noGrp="1"/>
          </p:cNvSpPr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951149972" name="Google Shape;24;p4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26321" name="Google Shape;26;p5"/>
          <p:cNvSpPr txBox="1">
            <a:spLocks noGrp="1"/>
          </p:cNvSpPr>
          <p:nvPr>
            <p:ph type="title"/>
          </p:nvPr>
        </p:nvSpPr>
        <p:spPr bwMode="auto"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9250649" name="Google Shape;27;p5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345911" name="Google Shape;29;p6"/>
          <p:cNvSpPr txBox="1">
            <a:spLocks noGrp="1"/>
          </p:cNvSpPr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493014810" name="Google Shape;30;p6"/>
          <p:cNvSpPr txBox="1">
            <a:spLocks noGrp="1"/>
          </p:cNvSpPr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388165013" name="Google Shape;31;p6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136568" name="Google Shape;33;p7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685134250" name="Google Shape;34;p7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618583" name="Google Shape;36;p8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65416954" name="Google Shape;37;p8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678088877" name="Google Shape;38;p8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274604221" name="Google Shape;39;p8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3959891" name="Google Shape;40;p8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663683" name="Google Shape;42;p9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06904823" name="Google Shape;43;p9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19186" name="Google Shape;45;p10"/>
          <p:cNvSpPr txBox="1">
            <a:spLocks noGrp="1"/>
          </p:cNvSpPr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39579873" name="Google Shape;46;p10"/>
          <p:cNvSpPr txBox="1">
            <a:spLocks noGrp="1"/>
          </p:cNvSpPr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4224473" name="Google Shape;47;p10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615973" name="Google Shape;49;p1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blipFill rotWithShape="1">
          <a:blip r:embed="rId1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84618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54074723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1745917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36226060" name="Google Shape;9;p1"/>
          <p:cNvPicPr/>
          <p:nvPr/>
        </p:nvPicPr>
        <p:blipFill rotWithShape="1">
          <a:blip r:embed="rId13">
            <a:alphaModFix/>
          </a:blip>
          <a:stretch/>
        </p:blipFill>
        <p:spPr bwMode="auto"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055004" name="object 2"/>
          <p:cNvSpPr txBox="1">
            <a:spLocks noChangeArrowheads="1"/>
          </p:cNvSpPr>
          <p:nvPr/>
        </p:nvSpPr>
        <p:spPr bwMode="auto">
          <a:xfrm>
            <a:off x="1793174" y="438778"/>
            <a:ext cx="7006441" cy="380873"/>
          </a:xfrm>
          <a:prstGeom prst="rect">
            <a:avLst/>
          </a:prstGeom>
          <a:noFill/>
          <a:ln>
            <a:noFill/>
          </a:ln>
        </p:spPr>
        <p:txBody>
          <a:bodyPr wrap="square"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r">
              <a:spcBef>
                <a:spcPts val="88"/>
              </a:spcBef>
              <a:defRPr/>
            </a:pPr>
            <a:r>
              <a:rPr lang="it-IT" sz="2400" b="1">
                <a:solidFill>
                  <a:srgbClr val="002060"/>
                </a:solidFill>
                <a:latin typeface="Helvetica-Bold"/>
                <a:cs typeface="Arial"/>
              </a:rPr>
              <a:t>Department of Master of Computer Applications</a:t>
            </a:r>
            <a:endParaRPr lang="en-US" sz="2400" b="1">
              <a:solidFill>
                <a:srgbClr val="002060"/>
              </a:solidFill>
              <a:latin typeface="Helvetica-Bold"/>
              <a:cs typeface="Arial"/>
            </a:endParaRPr>
          </a:p>
        </p:txBody>
      </p:sp>
      <p:sp>
        <p:nvSpPr>
          <p:cNvPr id="1106159345" name="object 2"/>
          <p:cNvSpPr txBox="1">
            <a:spLocks noChangeArrowheads="1"/>
          </p:cNvSpPr>
          <p:nvPr/>
        </p:nvSpPr>
        <p:spPr bwMode="auto">
          <a:xfrm>
            <a:off x="-1000898" y="1011104"/>
            <a:ext cx="11963400" cy="380873"/>
          </a:xfrm>
          <a:prstGeom prst="rect">
            <a:avLst/>
          </a:prstGeom>
          <a:noFill/>
          <a:ln>
            <a:noFill/>
          </a:ln>
        </p:spPr>
        <p:txBody>
          <a:bodyPr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ctr">
              <a:spcBef>
                <a:spcPts val="88"/>
              </a:spcBef>
              <a:defRPr/>
            </a:pP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Minor Project (</a:t>
            </a: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MCA461P</a:t>
            </a:r>
            <a:r>
              <a:rPr lang="en-US" sz="2400" b="1"/>
              <a:t>) </a:t>
            </a:r>
            <a:r>
              <a:rPr lang="en-US" sz="2400" b="1">
                <a:solidFill>
                  <a:srgbClr val="002060"/>
                </a:solidFill>
                <a:latin typeface="Helvetica-Bold"/>
                <a:cs typeface="Arial"/>
              </a:rPr>
              <a:t>– Phase-3</a:t>
            </a:r>
            <a:endParaRPr/>
          </a:p>
        </p:txBody>
      </p:sp>
      <p:sp>
        <p:nvSpPr>
          <p:cNvPr id="2021338201" name="object 2"/>
          <p:cNvSpPr txBox="1">
            <a:spLocks noChangeArrowheads="1"/>
          </p:cNvSpPr>
          <p:nvPr/>
        </p:nvSpPr>
        <p:spPr bwMode="auto">
          <a:xfrm flipH="0" flipV="0">
            <a:off x="448958" y="1710568"/>
            <a:ext cx="8403130" cy="1109069"/>
          </a:xfrm>
          <a:prstGeom prst="rect">
            <a:avLst/>
          </a:prstGeom>
          <a:noFill/>
          <a:ln>
            <a:noFill/>
          </a:ln>
        </p:spPr>
        <p:txBody>
          <a:bodyPr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ctr">
              <a:spcBef>
                <a:spcPts val="88"/>
              </a:spcBef>
              <a:defRPr/>
            </a:pPr>
            <a:r>
              <a:rPr lang="en-US" sz="3600" b="1" i="0" u="none" strike="noStrike" cap="none" spc="0">
                <a:solidFill>
                  <a:srgbClr val="002060"/>
                </a:solidFill>
                <a:latin typeface="Helvetica-Bold"/>
                <a:ea typeface="Helvetica-Bold"/>
                <a:cs typeface="Helvetica-Bold"/>
              </a:rPr>
              <a:t>FocusSense – Eye &amp; Head Pose Detection for Study Concentration</a:t>
            </a:r>
            <a:endParaRPr/>
          </a:p>
        </p:txBody>
      </p:sp>
      <p:sp>
        <p:nvSpPr>
          <p:cNvPr id="1121195851" name="object 2"/>
          <p:cNvSpPr txBox="1">
            <a:spLocks noChangeArrowheads="1"/>
          </p:cNvSpPr>
          <p:nvPr/>
        </p:nvSpPr>
        <p:spPr bwMode="auto">
          <a:xfrm flipH="0" flipV="0">
            <a:off x="850145" y="2632116"/>
            <a:ext cx="6784448" cy="948541"/>
          </a:xfrm>
          <a:prstGeom prst="rect">
            <a:avLst/>
          </a:prstGeom>
          <a:noFill/>
          <a:ln>
            <a:noFill/>
          </a:ln>
        </p:spPr>
        <p:txBody>
          <a:bodyPr lIns="0" tIns="11430" rIns="0" bIns="0">
            <a:spAutoFit/>
          </a:bodyPr>
          <a:lstStyle>
            <a:lvl1pPr marL="127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1pPr>
            <a:lvl2pPr marL="742950" indent="-28575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2pPr>
            <a:lvl3pPr marL="11430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3pPr>
            <a:lvl4pPr marL="16002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4pPr>
            <a:lvl5pPr marL="2057400" indent="-228600">
              <a:spcBef>
                <a:spcPts val="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5pPr>
            <a:lvl6pPr marL="25146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/>
                <a:ea typeface="ＭＳ Ｐゴシック"/>
              </a:defRPr>
            </a:lvl9pPr>
          </a:lstStyle>
          <a:p>
            <a:pPr algn="ctr">
              <a:spcBef>
                <a:spcPts val="88"/>
              </a:spcBef>
              <a:defRPr/>
            </a:pPr>
            <a:endParaRPr lang="en-US" sz="2000" b="1">
              <a:solidFill>
                <a:srgbClr val="002060"/>
              </a:solidFill>
              <a:latin typeface="Helvetica-Bold"/>
              <a:cs typeface="Arial"/>
            </a:endParaRPr>
          </a:p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cs typeface="Arial"/>
              </a:rPr>
              <a:t>Mohit Raj (1RV24MC070)</a:t>
            </a:r>
            <a:endParaRPr lang="en-US" sz="2000" b="1" i="0" u="none" strike="noStrike" cap="none" spc="0">
              <a:solidFill>
                <a:srgbClr val="002060"/>
              </a:solidFill>
              <a:latin typeface="Helvetica-Bold"/>
              <a:ea typeface="Helvetica-Bold"/>
              <a:cs typeface="Arial"/>
            </a:endParaRPr>
          </a:p>
          <a:p>
            <a:pPr algn="ctr">
              <a:spcBef>
                <a:spcPts val="87"/>
              </a:spcBef>
              <a:defRPr/>
            </a:pPr>
            <a:r>
              <a:rPr lang="en-US" sz="2000" b="1" i="0" u="none" strike="noStrike" cap="none" spc="0">
                <a:solidFill>
                  <a:srgbClr val="002060"/>
                </a:solidFill>
                <a:latin typeface="Helvetica-Bold"/>
                <a:ea typeface="Helvetica-Bold"/>
                <a:cs typeface="Arial"/>
              </a:rPr>
              <a:t>Sameer Patel (1RV24MC091)</a:t>
            </a:r>
            <a:endParaRPr/>
          </a:p>
        </p:txBody>
      </p:sp>
      <p:sp>
        <p:nvSpPr>
          <p:cNvPr id="1743468855" name="Rectangle 5"/>
          <p:cNvSpPr/>
          <p:nvPr/>
        </p:nvSpPr>
        <p:spPr bwMode="auto">
          <a:xfrm flipH="0" flipV="0">
            <a:off x="6076284" y="3340552"/>
            <a:ext cx="2854339" cy="15690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Under the Guidance </a:t>
            </a:r>
            <a:endParaRPr/>
          </a:p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of</a:t>
            </a:r>
            <a:endParaRPr/>
          </a:p>
          <a:p>
            <a:pPr algn="ctr">
              <a:spcBef>
                <a:spcPts val="88"/>
              </a:spcBef>
              <a:defRPr/>
            </a:pPr>
            <a:r>
              <a:rPr lang="en-US" sz="2000" b="1" i="0" u="none" strike="noStrike" cap="none" spc="0">
                <a:solidFill>
                  <a:srgbClr val="002060"/>
                </a:solidFill>
                <a:latin typeface="Helvetica-Bold"/>
                <a:ea typeface="Helvetica-Bold"/>
                <a:cs typeface="Helvetica-Bold"/>
              </a:rPr>
              <a:t>Dr. Andhe Dharani</a:t>
            </a:r>
            <a:endParaRPr/>
          </a:p>
          <a:p>
            <a:pPr algn="ctr">
              <a:spcBef>
                <a:spcPts val="88"/>
              </a:spcBef>
              <a:defRPr/>
            </a:pPr>
            <a:r>
              <a:rPr lang="en-US" sz="2000" b="1">
                <a:solidFill>
                  <a:srgbClr val="002060"/>
                </a:solidFill>
                <a:latin typeface="Helvetica-Bold"/>
                <a:ea typeface="ＭＳ Ｐゴシック"/>
                <a:cs typeface="Arial"/>
              </a:rPr>
              <a:t>Professor </a:t>
            </a:r>
            <a:endParaRPr/>
          </a:p>
          <a:p>
            <a:pPr algn="ctr">
              <a:spcBef>
                <a:spcPts val="88"/>
              </a:spcBef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656245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576212" y="0"/>
            <a:ext cx="11277600" cy="1230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/>
              <a:t>Agenda</a:t>
            </a:r>
            <a:endParaRPr/>
          </a:p>
        </p:txBody>
      </p:sp>
      <p:sp>
        <p:nvSpPr>
          <p:cNvPr id="1950350310" name="TextBox 4"/>
          <p:cNvSpPr txBox="1"/>
          <p:nvPr/>
        </p:nvSpPr>
        <p:spPr bwMode="auto">
          <a:xfrm>
            <a:off x="822960" y="1000869"/>
            <a:ext cx="78295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Introduction </a:t>
            </a:r>
            <a:endParaRPr/>
          </a:p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Changes suggested in Phase II and Incorporation</a:t>
            </a:r>
            <a:endParaRPr/>
          </a:p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Implementation </a:t>
            </a:r>
            <a:endParaRPr/>
          </a:p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Testing </a:t>
            </a:r>
            <a:endParaRPr/>
          </a:p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 Results and Conclusion   </a:t>
            </a:r>
            <a:endParaRPr/>
          </a:p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Future Enhancements</a:t>
            </a:r>
            <a:endParaRPr/>
          </a:p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References</a:t>
            </a:r>
            <a:endParaRPr/>
          </a:p>
          <a:p>
            <a:pPr marL="216000" indent="-216000" algn="just">
              <a:buSzPct val="45000"/>
              <a:buFont typeface="Wingdings"/>
              <a:buChar char=""/>
              <a:defRPr/>
            </a:pPr>
            <a:r>
              <a:rPr lang="en-IN" sz="2400">
                <a:solidFill>
                  <a:srgbClr val="16355A"/>
                </a:solidFill>
              </a:rPr>
              <a:t>Details of paper publication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72557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2576212" y="0"/>
            <a:ext cx="11277600" cy="1230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b="1"/>
              <a:t>Introduction</a:t>
            </a:r>
            <a:endParaRPr/>
          </a:p>
        </p:txBody>
      </p:sp>
      <p:sp>
        <p:nvSpPr>
          <p:cNvPr id="826327272" name="TextBox 3"/>
          <p:cNvSpPr txBox="1"/>
          <p:nvPr/>
        </p:nvSpPr>
        <p:spPr bwMode="auto">
          <a:xfrm flipH="0" flipV="0">
            <a:off x="853439" y="1483178"/>
            <a:ext cx="7846576" cy="307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9965" indent="-349965"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Online and smart classrooms lack real-time student attention monitoring</a:t>
            </a:r>
            <a:r>
              <a:rPr sz="1800"/>
              <a:t>.</a:t>
            </a:r>
            <a:endParaRPr sz="1800"/>
          </a:p>
          <a:p>
            <a:pPr marL="349965" indent="-349965"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Teachers cannot easily identify:</a:t>
            </a:r>
            <a:endParaRPr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Distracted students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Overall class focus level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Manual observation is:</a:t>
            </a:r>
            <a:endParaRPr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Time-consuming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Subjective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Not scalable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349965" indent="-349965"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FocusSense solves this using computer vision &amp; analytics</a:t>
            </a:r>
            <a:r>
              <a:rPr lang="en-US" sz="1800">
                <a:solidFill>
                  <a:srgbClr val="16355A"/>
                </a:solidFill>
              </a:rPr>
              <a:t>.</a:t>
            </a:r>
            <a:endParaRPr lang="en-IN" sz="24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457200" indent="-455400">
              <a:lnSpc>
                <a:spcPct val="113999"/>
              </a:lnSpc>
              <a:buClr>
                <a:srgbClr val="000000"/>
              </a:buClr>
              <a:buFont typeface="Arial"/>
              <a:buChar char="•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881961" name="Title 1"/>
          <p:cNvSpPr>
            <a:spLocks noGrp="1"/>
          </p:cNvSpPr>
          <p:nvPr>
            <p:ph type="title" idx="4294967295"/>
          </p:nvPr>
        </p:nvSpPr>
        <p:spPr bwMode="auto">
          <a:xfrm flipH="0" flipV="0">
            <a:off x="2361535" y="88446"/>
            <a:ext cx="11444651" cy="114186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b="1"/>
              <a:t>Problem Statement</a:t>
            </a:r>
            <a:endParaRPr/>
          </a:p>
        </p:txBody>
      </p:sp>
      <p:sp>
        <p:nvSpPr>
          <p:cNvPr id="120310807" name="TextBox 3"/>
          <p:cNvSpPr txBox="1"/>
          <p:nvPr/>
        </p:nvSpPr>
        <p:spPr bwMode="auto">
          <a:xfrm rot="0" flipH="0" flipV="0">
            <a:off x="853439" y="1499649"/>
            <a:ext cx="7797548" cy="2884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9965" indent="-349965">
              <a:buFont typeface="Wingdings"/>
              <a:buChar char="Ø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To design and implement a system that: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Automatically detects student attention</a:t>
            </a:r>
            <a:r>
              <a:rPr lang="en-US" sz="20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Works in real time</a:t>
            </a:r>
            <a:r>
              <a:rPr lang="en-US" sz="20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Supports multiple students</a:t>
            </a:r>
            <a:r>
              <a:rPr lang="en-US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750015" lvl="1" indent="-349965">
              <a:buFont typeface="Wingdings"/>
              <a:buChar char="w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Stores attention history for analysis</a:t>
            </a:r>
            <a:r>
              <a:rPr sz="2000"/>
              <a:t>.</a:t>
            </a:r>
            <a:endParaRPr sz="1800"/>
          </a:p>
          <a:p>
            <a:pPr lvl="1">
              <a:defRPr/>
            </a:pPr>
            <a:endParaRPr lang="en-IN" sz="2400" b="0" i="0" u="none" strike="noStrike" cap="none" spc="0">
              <a:solidFill>
                <a:srgbClr val="16355A"/>
              </a:solidFill>
              <a:latin typeface="Arial"/>
              <a:cs typeface="Arial"/>
            </a:endParaRPr>
          </a:p>
          <a:p>
            <a:pPr marL="457200" indent="-455400">
              <a:lnSpc>
                <a:spcPct val="113999"/>
              </a:lnSpc>
              <a:buClr>
                <a:srgbClr val="000000"/>
              </a:buClr>
              <a:buFont typeface="Arial"/>
              <a:buChar char="•"/>
              <a:defRPr/>
            </a:pPr>
            <a:endParaRPr/>
          </a:p>
          <a:p>
            <a:pPr>
              <a:lnSpc>
                <a:spcPct val="113999"/>
              </a:lnSpc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457200" indent="-455400">
              <a:lnSpc>
                <a:spcPct val="113999"/>
              </a:lnSpc>
              <a:buClr>
                <a:srgbClr val="000000"/>
              </a:buClr>
              <a:buFont typeface="Arial"/>
              <a:buChar char="•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992518" name="Title 1"/>
          <p:cNvSpPr>
            <a:spLocks noGrp="1"/>
          </p:cNvSpPr>
          <p:nvPr>
            <p:ph type="title" idx="4294967295"/>
          </p:nvPr>
        </p:nvSpPr>
        <p:spPr bwMode="auto">
          <a:xfrm flipH="0" flipV="0">
            <a:off x="2576211" y="163285"/>
            <a:ext cx="11277599" cy="10670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b="1"/>
              <a:t>Scope Of The Project</a:t>
            </a:r>
            <a:endParaRPr/>
          </a:p>
        </p:txBody>
      </p:sp>
      <p:sp>
        <p:nvSpPr>
          <p:cNvPr id="579558686" name="TextBox 3"/>
          <p:cNvSpPr txBox="1"/>
          <p:nvPr/>
        </p:nvSpPr>
        <p:spPr bwMode="auto">
          <a:xfrm flipH="0" flipV="0">
            <a:off x="853439" y="1489834"/>
            <a:ext cx="6950975" cy="2163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879" indent="-283879">
              <a:buFont typeface="Wingdings"/>
              <a:buChar char="Ø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Online classes</a:t>
            </a:r>
            <a:r>
              <a:rPr lang="en-US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Smart classrooms</a:t>
            </a:r>
            <a:r>
              <a:rPr sz="20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sz="2000" b="0" i="0" u="none" strike="noStrike" cap="none" spc="0">
              <a:solidFill>
                <a:srgbClr val="16355A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Student engagement analysis</a:t>
            </a:r>
            <a:r>
              <a:rPr lang="en-US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.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Users: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Students (tracking client)</a:t>
            </a:r>
            <a:r>
              <a:rPr sz="20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sz="20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Teacher/Admin (dashboard </a:t>
            </a:r>
            <a:r>
              <a:rPr lang="en-IN" sz="20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&amp; reports)</a:t>
            </a:r>
            <a:r>
              <a:rPr sz="20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sz="1800" b="0" i="0" u="none" strike="noStrike" cap="none" spc="0">
              <a:solidFill>
                <a:srgbClr val="16355A"/>
              </a:solidFill>
              <a:latin typeface="Arial"/>
              <a:cs typeface="Arial"/>
            </a:endParaRPr>
          </a:p>
          <a:p>
            <a:pPr marL="457200" indent="-455400">
              <a:lnSpc>
                <a:spcPct val="113999"/>
              </a:lnSpc>
              <a:buClr>
                <a:srgbClr val="000000"/>
              </a:buClr>
              <a:buFont typeface="Arial"/>
              <a:buChar char="•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593563" name="Title 1"/>
          <p:cNvSpPr>
            <a:spLocks noGrp="1"/>
          </p:cNvSpPr>
          <p:nvPr>
            <p:ph type="title"/>
          </p:nvPr>
        </p:nvSpPr>
        <p:spPr bwMode="auto">
          <a:xfrm>
            <a:off x="421109" y="65456"/>
            <a:ext cx="8520600" cy="5727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Incorporation of Changes </a:t>
            </a:r>
            <a:endParaRPr/>
          </a:p>
        </p:txBody>
      </p:sp>
      <p:sp>
        <p:nvSpPr>
          <p:cNvPr id="30674873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558588" y="1284061"/>
            <a:ext cx="8273710" cy="3416400"/>
          </a:xfrm>
        </p:spPr>
        <p:txBody>
          <a:bodyPr/>
          <a:lstStyle/>
          <a:p>
            <a:pPr marL="114300" indent="0">
              <a:buNone/>
              <a:defRPr/>
            </a:pPr>
            <a:r>
              <a:rPr lang="en-US" sz="2400">
                <a:solidFill>
                  <a:srgbClr val="16355A"/>
                </a:solidFill>
              </a:rPr>
              <a:t>E</a:t>
            </a:r>
            <a:r>
              <a:rPr lang="en-IN" sz="2400">
                <a:solidFill>
                  <a:srgbClr val="16355A"/>
                </a:solidFill>
              </a:rPr>
              <a:t>xplain the changes </a:t>
            </a:r>
            <a:r>
              <a:rPr lang="en-IN" sz="2400">
                <a:solidFill>
                  <a:srgbClr val="16355A"/>
                </a:solidFill>
              </a:rPr>
              <a:t>incorporated</a:t>
            </a:r>
            <a:r>
              <a:rPr lang="en-US" sz="2400">
                <a:solidFill>
                  <a:srgbClr val="16355A"/>
                </a:solidFill>
              </a:rPr>
              <a:t>:</a:t>
            </a: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1452780170" name=""/>
          <p:cNvSpPr/>
          <p:nvPr/>
        </p:nvSpPr>
        <p:spPr bwMode="auto">
          <a:xfrm flipH="0" flipV="0">
            <a:off x="708267" y="1843767"/>
            <a:ext cx="7946283" cy="2834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buFont typeface="Wingdings"/>
              <a:buChar char="Ø"/>
              <a:defRPr/>
            </a:pPr>
            <a:r>
              <a:rPr sz="18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Add 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Changes implemented:</a:t>
            </a:r>
            <a:endParaRPr lang="en-US"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Central Flask server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Student ID–based joining.</a:t>
            </a:r>
            <a:endParaRPr lang="en-US"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SQLite database integration.</a:t>
            </a:r>
            <a:endParaRPr lang="en-US"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Analysis page with charts.</a:t>
            </a:r>
            <a:endParaRPr lang="en-US"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Admin panel with student history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CSV &amp; 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PDF export</a:t>
            </a: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6355A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800" b="0" i="0" u="none" strike="noStrike" cap="none" spc="0">
              <a:solidFill>
                <a:srgbClr val="16355A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lang="en-US" sz="1800" b="0" i="0" u="none" strike="noStrike" cap="none" spc="0">
                <a:solidFill>
                  <a:srgbClr val="16355A"/>
                </a:solidFill>
                <a:latin typeface="Arial"/>
                <a:ea typeface="Arial"/>
                <a:cs typeface="Arial"/>
              </a:rPr>
              <a:t>All Phase-II suggestions implemented successfully</a:t>
            </a:r>
            <a:r>
              <a:rPr sz="1800">
                <a:solidFill>
                  <a:srgbClr val="16355A"/>
                </a:solidFill>
                <a:latin typeface="Arial"/>
                <a:cs typeface="Arial"/>
              </a:rPr>
              <a:t>.</a:t>
            </a:r>
            <a:endParaRPr sz="1800" b="0" i="0" u="none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AutoNum type="arabicPeriod"/>
              <a:defRPr/>
            </a:pPr>
            <a:endParaRPr sz="1800">
              <a:solidFill>
                <a:srgbClr val="16355A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767692" name="Title 1"/>
          <p:cNvSpPr>
            <a:spLocks noGrp="1"/>
          </p:cNvSpPr>
          <p:nvPr>
            <p:ph type="title"/>
          </p:nvPr>
        </p:nvSpPr>
        <p:spPr bwMode="auto">
          <a:xfrm>
            <a:off x="413052" y="154288"/>
            <a:ext cx="8520600" cy="5727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System Architecture </a:t>
            </a:r>
            <a:endParaRPr/>
          </a:p>
        </p:txBody>
      </p:sp>
      <p:sp>
        <p:nvSpPr>
          <p:cNvPr id="1781701182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572196" y="981661"/>
            <a:ext cx="8168355" cy="3416400"/>
          </a:xfr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114300" indent="0">
              <a:buNone/>
              <a:defRPr/>
            </a:pPr>
            <a:endParaRPr sz="1800"/>
          </a:p>
          <a:p>
            <a:pPr marL="114300" indent="0">
              <a:buNone/>
              <a:defRPr/>
            </a:pPr>
            <a:r>
              <a:rPr lang="en-IN" sz="1800">
                <a:solidFill>
                  <a:srgbClr val="16355A"/>
                </a:solidFill>
              </a:rPr>
              <a:t>   </a:t>
            </a:r>
            <a:endParaRPr/>
          </a:p>
          <a:p>
            <a:pPr marL="114300" indent="0">
              <a:buNone/>
              <a:defRPr/>
            </a:pPr>
            <a:r>
              <a:rPr lang="en-IN" sz="2400">
                <a:solidFill>
                  <a:srgbClr val="16355A"/>
                </a:solidFill>
              </a:rPr>
              <a:t>   </a:t>
            </a:r>
            <a:endParaRPr/>
          </a:p>
          <a:p>
            <a:pPr marL="114300" indent="0">
              <a:buNone/>
              <a:defRPr/>
            </a:pP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1245610654" name=""/>
          <p:cNvSpPr/>
          <p:nvPr/>
        </p:nvSpPr>
        <p:spPr bwMode="auto">
          <a:xfrm flipH="0" flipV="0">
            <a:off x="660642" y="1585231"/>
            <a:ext cx="5941713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lvl="1">
              <a:defRPr/>
            </a:pPr>
            <a:endParaRPr sz="1800">
              <a:solidFill>
                <a:srgbClr val="16355A"/>
              </a:solidFill>
              <a:latin typeface="Arial"/>
              <a:cs typeface="Arial"/>
            </a:endParaRPr>
          </a:p>
        </p:txBody>
      </p:sp>
      <p:pic>
        <p:nvPicPr>
          <p:cNvPr id="1587090558" name=""/>
          <p:cNvPicPr>
            <a:picLocks noChangeAspect="1"/>
          </p:cNvPicPr>
          <p:nvPr/>
        </p:nvPicPr>
        <p:blipFill rotWithShape="1">
          <a:blip r:embed="rId3"/>
          <a:srcRect l="3155" t="0" r="1313" b="0"/>
          <a:stretch/>
        </p:blipFill>
        <p:spPr bwMode="auto">
          <a:xfrm flipH="0" flipV="0">
            <a:off x="1014428" y="1225539"/>
            <a:ext cx="7415892" cy="3476860"/>
          </a:xfrm>
          <a:prstGeom prst="rect">
            <a:avLst/>
          </a:prstGeom>
        </p:spPr>
      </p:pic>
      <p:sp>
        <p:nvSpPr>
          <p:cNvPr id="201253756" name=""/>
          <p:cNvSpPr txBox="1"/>
          <p:nvPr/>
        </p:nvSpPr>
        <p:spPr bwMode="auto">
          <a:xfrm rot="0" flipH="0" flipV="0">
            <a:off x="3003696" y="4777239"/>
            <a:ext cx="452927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 Workflow System Architecture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760006" name="Title 1"/>
          <p:cNvSpPr>
            <a:spLocks noGrp="1"/>
          </p:cNvSpPr>
          <p:nvPr>
            <p:ph type="title"/>
          </p:nvPr>
        </p:nvSpPr>
        <p:spPr bwMode="auto">
          <a:xfrm>
            <a:off x="413051" y="154287"/>
            <a:ext cx="8520599" cy="57269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Implementation </a:t>
            </a:r>
            <a:endParaRPr/>
          </a:p>
        </p:txBody>
      </p:sp>
      <p:sp>
        <p:nvSpPr>
          <p:cNvPr id="140219039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572196" y="981661"/>
            <a:ext cx="8168355" cy="3416400"/>
          </a:xfr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114300" indent="0">
              <a:buNone/>
              <a:defRPr/>
            </a:pPr>
            <a:endParaRPr sz="1800"/>
          </a:p>
          <a:p>
            <a:pPr marL="114300" indent="0">
              <a:buNone/>
              <a:defRPr/>
            </a:pPr>
            <a:r>
              <a:rPr lang="en-IN" sz="1800">
                <a:solidFill>
                  <a:srgbClr val="16355A"/>
                </a:solidFill>
              </a:rPr>
              <a:t>   </a:t>
            </a:r>
            <a:endParaRPr/>
          </a:p>
          <a:p>
            <a:pPr marL="114300" indent="0">
              <a:buNone/>
              <a:defRPr/>
            </a:pPr>
            <a:r>
              <a:rPr lang="en-IN" sz="2400">
                <a:solidFill>
                  <a:srgbClr val="16355A"/>
                </a:solidFill>
              </a:rPr>
              <a:t>   </a:t>
            </a:r>
            <a:endParaRPr/>
          </a:p>
          <a:p>
            <a:pPr marL="114300" indent="0">
              <a:buNone/>
              <a:defRPr/>
            </a:pP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1712939822" name=""/>
          <p:cNvSpPr/>
          <p:nvPr/>
        </p:nvSpPr>
        <p:spPr bwMode="auto">
          <a:xfrm flipH="0" flipV="0">
            <a:off x="660642" y="1585231"/>
            <a:ext cx="5940993" cy="16157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buFont typeface="Wingdings"/>
              <a:buChar char="Ø"/>
              <a:defRPr/>
            </a:pPr>
            <a:r>
              <a:rPr sz="20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Project divided into </a:t>
            </a:r>
            <a:r>
              <a:rPr sz="20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4 main modules</a:t>
            </a:r>
            <a:r>
              <a:rPr sz="20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:</a:t>
            </a:r>
            <a:endParaRPr sz="2000" b="0" i="0" u="none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AutoNum type="arabicPeriod"/>
              <a:defRPr/>
            </a:pPr>
            <a:r>
              <a:rPr sz="20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Student Tracking Module</a:t>
            </a:r>
            <a:endParaRPr sz="2000">
              <a:solidFill>
                <a:srgbClr val="16355A"/>
              </a:solidFill>
              <a:latin typeface="Arial"/>
              <a:cs typeface="Arial"/>
            </a:endParaRPr>
          </a:p>
          <a:p>
            <a:pPr marL="683929" lvl="1" indent="-283879">
              <a:buAutoNum type="arabicPeriod"/>
              <a:defRPr/>
            </a:pPr>
            <a:r>
              <a:rPr sz="20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Server &amp; Database Module</a:t>
            </a:r>
            <a:endParaRPr sz="2000" b="0" i="0" u="none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AutoNum type="arabicPeriod"/>
              <a:defRPr/>
            </a:pPr>
            <a:r>
              <a:rPr sz="20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Dashboard &amp; Analysis Module</a:t>
            </a:r>
            <a:endParaRPr sz="2000" b="0" i="0" u="none">
              <a:solidFill>
                <a:srgbClr val="16355A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AutoNum type="arabicPeriod"/>
              <a:defRPr/>
            </a:pPr>
            <a:r>
              <a:rPr sz="2000" b="0" i="0" u="none">
                <a:solidFill>
                  <a:srgbClr val="16355A"/>
                </a:solidFill>
                <a:latin typeface="Arial"/>
                <a:ea typeface="Arial"/>
                <a:cs typeface="Arial"/>
              </a:rPr>
              <a:t>Admin &amp; Reporting Module</a:t>
            </a:r>
            <a:endParaRPr sz="1800">
              <a:solidFill>
                <a:srgbClr val="16355A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234687" name="Title 1"/>
          <p:cNvSpPr>
            <a:spLocks noGrp="1"/>
          </p:cNvSpPr>
          <p:nvPr>
            <p:ph type="title"/>
          </p:nvPr>
        </p:nvSpPr>
        <p:spPr bwMode="auto">
          <a:xfrm>
            <a:off x="413051" y="154287"/>
            <a:ext cx="8520599" cy="57269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Implementation </a:t>
            </a:r>
            <a:endParaRPr/>
          </a:p>
        </p:txBody>
      </p:sp>
      <p:sp>
        <p:nvSpPr>
          <p:cNvPr id="20377903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05" y="981661"/>
            <a:ext cx="8520599" cy="3416400"/>
          </a:xfr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114300" indent="0">
              <a:buNone/>
              <a:defRPr/>
            </a:pPr>
            <a:r>
              <a:rPr lang="en-US" sz="2200" b="0" i="0" u="none" strike="noStrike" cap="none" spc="0">
                <a:solidFill>
                  <a:srgbClr val="162C5A"/>
                </a:solidFill>
                <a:latin typeface="Arial"/>
                <a:ea typeface="Arial"/>
                <a:cs typeface="Arial"/>
              </a:rPr>
              <a:t>Module 1: Student Tracking</a:t>
            </a:r>
            <a:r>
              <a:rPr sz="2200">
                <a:solidFill>
                  <a:srgbClr val="162C5A"/>
                </a:solidFill>
              </a:rPr>
              <a:t>:</a:t>
            </a:r>
            <a:endParaRPr/>
          </a:p>
          <a:p>
            <a:pPr marL="114300" indent="0">
              <a:buNone/>
              <a:defRPr/>
            </a:pPr>
            <a:r>
              <a:rPr lang="en-IN" sz="2400">
                <a:solidFill>
                  <a:srgbClr val="16355A"/>
                </a:solidFill>
              </a:rPr>
              <a:t>         </a:t>
            </a: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1837814635" name=""/>
          <p:cNvSpPr/>
          <p:nvPr/>
        </p:nvSpPr>
        <p:spPr bwMode="auto">
          <a:xfrm flipH="0" flipV="0">
            <a:off x="660642" y="1598839"/>
            <a:ext cx="4291290" cy="38713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Input: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Live webcam feed.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Process: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Face detection (MediaPipe).</a:t>
            </a:r>
            <a:endParaRPr sz="1800" b="0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Eye landmarks detection</a:t>
            </a:r>
            <a:r>
              <a:rPr sz="180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sz="1800" b="0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Head pose estimation.</a:t>
            </a:r>
            <a:endParaRPr sz="1800" b="0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Attention score calculation</a:t>
            </a:r>
            <a:r>
              <a:rPr/>
              <a:t>.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Output: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Focus score (0–100).</a:t>
            </a:r>
            <a:endParaRPr sz="1800" b="0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Focused / Distracted label</a:t>
            </a:r>
            <a:r>
              <a:rPr sz="180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sz="1800" b="0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Data sent to server</a:t>
            </a:r>
            <a:r>
              <a:rPr/>
              <a:t>.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15842720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477571" y="1374409"/>
            <a:ext cx="3320142" cy="3150053"/>
          </a:xfrm>
          <a:prstGeom prst="rect">
            <a:avLst/>
          </a:prstGeom>
        </p:spPr>
      </p:pic>
      <p:sp>
        <p:nvSpPr>
          <p:cNvPr id="2017564155" name=""/>
          <p:cNvSpPr txBox="1"/>
          <p:nvPr/>
        </p:nvSpPr>
        <p:spPr bwMode="auto">
          <a:xfrm rot="0" flipH="0" flipV="0">
            <a:off x="5776928" y="4616903"/>
            <a:ext cx="3157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Fig:Eye tracking window showing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948070" name="Title 1"/>
          <p:cNvSpPr>
            <a:spLocks noGrp="1"/>
          </p:cNvSpPr>
          <p:nvPr>
            <p:ph type="title"/>
          </p:nvPr>
        </p:nvSpPr>
        <p:spPr bwMode="auto">
          <a:xfrm>
            <a:off x="413051" y="154287"/>
            <a:ext cx="8520599" cy="57269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Implementation </a:t>
            </a:r>
            <a:endParaRPr/>
          </a:p>
        </p:txBody>
      </p:sp>
      <p:sp>
        <p:nvSpPr>
          <p:cNvPr id="3844330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05" y="981661"/>
            <a:ext cx="8520599" cy="3416400"/>
          </a:xfr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114300" indent="0">
              <a:buNone/>
              <a:defRPr/>
            </a:pPr>
            <a:r>
              <a:rPr lang="en-US" sz="2200" b="0" i="0" u="none" strike="noStrike" cap="none" spc="0">
                <a:solidFill>
                  <a:srgbClr val="162C5A"/>
                </a:solidFill>
                <a:latin typeface="Arial"/>
                <a:ea typeface="Arial"/>
                <a:cs typeface="Arial"/>
              </a:rPr>
              <a:t>Module 2: Server &amp; Database</a:t>
            </a:r>
            <a:r>
              <a:rPr sz="2200">
                <a:solidFill>
                  <a:srgbClr val="162C5A"/>
                </a:solidFill>
              </a:rPr>
              <a:t>:</a:t>
            </a:r>
            <a:endParaRPr/>
          </a:p>
          <a:p>
            <a:pPr marL="114300" indent="0">
              <a:buNone/>
              <a:defRPr/>
            </a:pPr>
            <a:r>
              <a:rPr lang="en-IN" sz="2400">
                <a:solidFill>
                  <a:srgbClr val="16355A"/>
                </a:solidFill>
              </a:rPr>
              <a:t>         </a:t>
            </a: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1175018567" name=""/>
          <p:cNvSpPr/>
          <p:nvPr/>
        </p:nvSpPr>
        <p:spPr bwMode="auto">
          <a:xfrm flipH="0" flipV="0">
            <a:off x="660642" y="1598839"/>
            <a:ext cx="4307850" cy="38713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Input:</a:t>
            </a:r>
            <a:endParaRPr sz="1800" b="1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Student ID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Name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Focus score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Process:</a:t>
            </a:r>
            <a:endParaRPr sz="1800" b="1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Receive data via REST API</a:t>
            </a:r>
            <a:r>
              <a:rPr sz="180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Store in SQLite database</a:t>
            </a:r>
            <a:r>
              <a:rPr sz="180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Maintain session &amp; logs</a:t>
            </a:r>
            <a:r>
              <a:rPr sz="180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Output: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Stored attention history</a:t>
            </a:r>
            <a:r>
              <a:rPr sz="1800"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.</a:t>
            </a:r>
            <a:endParaRPr sz="1800" b="0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341033370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477571" y="1374409"/>
            <a:ext cx="3320142" cy="3150053"/>
          </a:xfrm>
          <a:prstGeom prst="rect">
            <a:avLst/>
          </a:prstGeom>
        </p:spPr>
      </p:pic>
      <p:sp>
        <p:nvSpPr>
          <p:cNvPr id="670230273" name=""/>
          <p:cNvSpPr txBox="1"/>
          <p:nvPr/>
        </p:nvSpPr>
        <p:spPr bwMode="auto">
          <a:xfrm rot="0" flipH="0" flipV="0">
            <a:off x="5375517" y="4616903"/>
            <a:ext cx="35620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</a:t>
            </a:r>
            <a:r>
              <a:rPr lang="en-US" sz="14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SQLite table showing attention_logs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769470" name="Title 1"/>
          <p:cNvSpPr>
            <a:spLocks noGrp="1"/>
          </p:cNvSpPr>
          <p:nvPr>
            <p:ph type="title"/>
          </p:nvPr>
        </p:nvSpPr>
        <p:spPr bwMode="auto">
          <a:xfrm>
            <a:off x="413051" y="154287"/>
            <a:ext cx="8520599" cy="57269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Implementation </a:t>
            </a:r>
            <a:endParaRPr/>
          </a:p>
        </p:txBody>
      </p:sp>
      <p:sp>
        <p:nvSpPr>
          <p:cNvPr id="6719629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05" y="981661"/>
            <a:ext cx="8520599" cy="3416400"/>
          </a:xfr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114300" indent="0">
              <a:buNone/>
              <a:defRPr/>
            </a:pPr>
            <a:r>
              <a:rPr lang="en-US" sz="2200" b="0" i="0" u="none" strike="noStrike" cap="none" spc="0">
                <a:solidFill>
                  <a:srgbClr val="162C5A"/>
                </a:solidFill>
                <a:latin typeface="Arial"/>
                <a:ea typeface="Arial"/>
                <a:cs typeface="Arial"/>
              </a:rPr>
              <a:t>Module 3: Dashboard &amp; Analysis</a:t>
            </a:r>
            <a:r>
              <a:rPr sz="2200">
                <a:solidFill>
                  <a:srgbClr val="162C5A"/>
                </a:solidFill>
              </a:rPr>
              <a:t>:</a:t>
            </a:r>
            <a:endParaRPr/>
          </a:p>
          <a:p>
            <a:pPr marL="114300" indent="0">
              <a:buNone/>
              <a:defRPr/>
            </a:pPr>
            <a:r>
              <a:rPr lang="en-IN" sz="2400">
                <a:solidFill>
                  <a:srgbClr val="16355A"/>
                </a:solidFill>
              </a:rPr>
              <a:t>         </a:t>
            </a: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495918123" name=""/>
          <p:cNvSpPr/>
          <p:nvPr/>
        </p:nvSpPr>
        <p:spPr bwMode="auto">
          <a:xfrm flipH="0" flipV="0">
            <a:off x="660642" y="1598839"/>
            <a:ext cx="4326570" cy="38713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Input:</a:t>
            </a:r>
            <a:endParaRPr sz="1800" b="1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Live database data</a:t>
            </a: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Process:</a:t>
            </a:r>
            <a:endParaRPr sz="1800" b="1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Fetch student status.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Update UI every 2 seconds</a:t>
            </a: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Render charts using Chart.js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Output: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Live classroom dashboard</a:t>
            </a: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Attention timeline graph.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Current focus bar chart</a:t>
            </a: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1209397657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375517" y="1374409"/>
            <a:ext cx="3513806" cy="1496785"/>
          </a:xfrm>
          <a:prstGeom prst="rect">
            <a:avLst/>
          </a:prstGeom>
        </p:spPr>
      </p:pic>
      <p:sp>
        <p:nvSpPr>
          <p:cNvPr id="61793999" name=""/>
          <p:cNvSpPr txBox="1"/>
          <p:nvPr/>
        </p:nvSpPr>
        <p:spPr bwMode="auto">
          <a:xfrm rot="0" flipH="0" flipV="0">
            <a:off x="5375517" y="4616903"/>
            <a:ext cx="35646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</a:t>
            </a:r>
            <a:r>
              <a:rPr lang="en-US" sz="14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Live dashboard page &amp; </a:t>
            </a:r>
            <a:r>
              <a:rPr lang="en-US" sz="14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Analysis page with line &amp; bar charts</a:t>
            </a:r>
            <a:endParaRPr lang="en-US" sz="1400" b="0" i="0" u="none" strike="noStrike" cap="none" spc="0">
              <a:solidFill>
                <a:srgbClr val="142C60"/>
              </a:solidFill>
              <a:latin typeface="Arial"/>
              <a:cs typeface="Arial"/>
            </a:endParaRPr>
          </a:p>
        </p:txBody>
      </p:sp>
      <p:pic>
        <p:nvPicPr>
          <p:cNvPr id="21277750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02390" y="2871194"/>
            <a:ext cx="3510509" cy="17457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839612" name="Title 1"/>
          <p:cNvSpPr>
            <a:spLocks noGrp="1"/>
          </p:cNvSpPr>
          <p:nvPr>
            <p:ph type="title"/>
          </p:nvPr>
        </p:nvSpPr>
        <p:spPr bwMode="auto">
          <a:xfrm>
            <a:off x="413051" y="154287"/>
            <a:ext cx="8520599" cy="57269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/>
              <a:t>Implementation </a:t>
            </a:r>
            <a:endParaRPr/>
          </a:p>
        </p:txBody>
      </p:sp>
      <p:sp>
        <p:nvSpPr>
          <p:cNvPr id="21284247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05" y="981661"/>
            <a:ext cx="8520599" cy="3416400"/>
          </a:xfr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rmAutofit/>
          </a:bodyPr>
          <a:lstStyle/>
          <a:p>
            <a:pPr marL="114300" indent="0">
              <a:buNone/>
              <a:defRPr/>
            </a:pPr>
            <a:r>
              <a:rPr lang="en-US" sz="2200" b="0" i="0" u="none" strike="noStrike" cap="none" spc="0">
                <a:solidFill>
                  <a:srgbClr val="162C5A"/>
                </a:solidFill>
                <a:latin typeface="Arial"/>
                <a:ea typeface="Arial"/>
                <a:cs typeface="Arial"/>
              </a:rPr>
              <a:t>Module 4: Admin Panel</a:t>
            </a:r>
            <a:r>
              <a:rPr sz="2200">
                <a:solidFill>
                  <a:srgbClr val="162C5A"/>
                </a:solidFill>
              </a:rPr>
              <a:t>:</a:t>
            </a:r>
            <a:endParaRPr/>
          </a:p>
          <a:p>
            <a:pPr marL="114300" indent="0">
              <a:buNone/>
              <a:defRPr/>
            </a:pPr>
            <a:r>
              <a:rPr lang="en-IN" sz="2400">
                <a:solidFill>
                  <a:srgbClr val="16355A"/>
                </a:solidFill>
              </a:rPr>
              <a:t>         </a:t>
            </a: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/>
          </a:p>
          <a:p>
            <a:pPr marL="114300" indent="0">
              <a:buNone/>
              <a:defRPr/>
            </a:pPr>
            <a:endParaRPr lang="en-IN" sz="2400">
              <a:solidFill>
                <a:srgbClr val="16355A"/>
              </a:solidFill>
            </a:endParaRPr>
          </a:p>
          <a:p>
            <a:pPr marL="114300" indent="0">
              <a:buNone/>
              <a:defRPr/>
            </a:pPr>
            <a:endParaRPr lang="en-US" sz="2400">
              <a:solidFill>
                <a:srgbClr val="16355A"/>
              </a:solidFill>
            </a:endParaRPr>
          </a:p>
          <a:p>
            <a:pPr>
              <a:defRPr/>
            </a:pPr>
            <a:endParaRPr lang="en-US"/>
          </a:p>
        </p:txBody>
      </p:sp>
      <p:sp>
        <p:nvSpPr>
          <p:cNvPr id="2072592447" name=""/>
          <p:cNvSpPr/>
          <p:nvPr/>
        </p:nvSpPr>
        <p:spPr bwMode="auto">
          <a:xfrm flipH="0" flipV="0">
            <a:off x="660642" y="1598839"/>
            <a:ext cx="4322610" cy="44199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Input:</a:t>
            </a:r>
            <a:endParaRPr sz="1800" b="1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Stored database records</a:t>
            </a: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Process:</a:t>
            </a:r>
            <a:endParaRPr sz="1800" b="1" i="0" u="none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Fetch all students.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Fetch individual history.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Generate reports</a:t>
            </a: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cs typeface="Arial"/>
              </a:rPr>
              <a:t>.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283879" indent="-283879">
              <a:buFont typeface="Wingdings"/>
              <a:buChar char="Ø"/>
              <a:defRPr/>
            </a:pPr>
            <a:r>
              <a:rPr sz="1800" b="1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Output:</a:t>
            </a: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Student list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Detailed history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ea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r>
              <a:rPr lang="en-US" sz="18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CSV &amp; PDF exports</a:t>
            </a:r>
            <a:endParaRPr lang="en-US" sz="1800" b="0" i="0" u="none" strike="noStrike" cap="none" spc="0">
              <a:solidFill>
                <a:srgbClr val="142C60"/>
              </a:solidFill>
              <a:latin typeface="Arial"/>
              <a:cs typeface="Arial"/>
            </a:endParaRPr>
          </a:p>
          <a:p>
            <a:pPr marL="683929" lvl="1" indent="-283879">
              <a:buFont typeface="Wingdings"/>
              <a:buChar char="w"/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solidFill>
                <a:srgbClr val="142C60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pic>
        <p:nvPicPr>
          <p:cNvPr id="645890948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5239446" y="1374409"/>
            <a:ext cx="3558267" cy="1496697"/>
          </a:xfrm>
          <a:prstGeom prst="rect">
            <a:avLst/>
          </a:prstGeom>
        </p:spPr>
      </p:pic>
      <p:sp>
        <p:nvSpPr>
          <p:cNvPr id="392616689" name=""/>
          <p:cNvSpPr txBox="1"/>
          <p:nvPr/>
        </p:nvSpPr>
        <p:spPr bwMode="auto">
          <a:xfrm rot="0" flipH="0" flipV="0">
            <a:off x="5191821" y="4616903"/>
            <a:ext cx="3843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</a:t>
            </a:r>
            <a:r>
              <a:rPr sz="12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Admin student list page &amp; </a:t>
            </a:r>
            <a:r>
              <a:rPr sz="12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Student history page</a:t>
            </a:r>
            <a:endParaRPr/>
          </a:p>
        </p:txBody>
      </p:sp>
      <p:pic>
        <p:nvPicPr>
          <p:cNvPr id="179223579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239446" y="2871106"/>
            <a:ext cx="3558267" cy="1680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676494" name="Title 1"/>
          <p:cNvSpPr>
            <a:spLocks noGrp="1"/>
          </p:cNvSpPr>
          <p:nvPr>
            <p:ph type="title"/>
          </p:nvPr>
        </p:nvSpPr>
        <p:spPr bwMode="auto">
          <a:xfrm>
            <a:off x="424776" y="267156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Testing</a:t>
            </a:r>
            <a:endParaRPr/>
          </a:p>
        </p:txBody>
      </p:sp>
      <p:graphicFrame>
        <p:nvGraphicFramePr>
          <p:cNvPr id="1532139040" name="Table 7"/>
          <p:cNvGraphicFramePr>
            <a:graphicFrameLocks xmlns:a="http://schemas.openxmlformats.org/drawingml/2006/main" noGrp="1"/>
          </p:cNvGraphicFramePr>
          <p:nvPr/>
        </p:nvGraphicFramePr>
        <p:xfrm rot="0">
          <a:off x="538178" y="997691"/>
          <a:ext cx="8297192" cy="10972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76542"/>
                <a:gridCol w="1636313"/>
                <a:gridCol w="1317463"/>
                <a:gridCol w="1580382"/>
                <a:gridCol w="1724658"/>
                <a:gridCol w="1093118"/>
              </a:tblGrid>
              <a:tr h="620092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Test</a:t>
                      </a:r>
                      <a:r>
                        <a:rPr lang="en-IN" sz="1400"/>
                        <a:t> case ID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Feature Tested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IN" sz="1400"/>
                        <a:t>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Sample Input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Expected Output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Actual Output </a:t>
                      </a:r>
                      <a:endParaRPr/>
                    </a:p>
                    <a:p>
                      <a:pPr>
                        <a:defRPr/>
                      </a:pP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Remarks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IN" sz="1400"/>
                        <a:t>( Pass/Fail)</a:t>
                      </a:r>
                      <a:endParaRPr/>
                    </a:p>
                  </a:txBody>
                  <a:tcPr/>
                </a:tc>
              </a:tr>
              <a:tr h="202038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TC-01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Face Detection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Webcam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Face detected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Face detected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Pass</a:t>
                      </a:r>
                      <a:endParaRPr lang="en-IN" sz="1800"/>
                    </a:p>
                  </a:txBody>
                  <a:tcPr/>
                </a:tc>
              </a:tr>
              <a:tr h="202038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TC-02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Attention Score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Head movement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Score change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Score updated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Pass</a:t>
                      </a:r>
                      <a:endParaRPr lang="en-IN" sz="1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27445711" name="TextBox 9"/>
          <p:cNvSpPr txBox="1"/>
          <p:nvPr/>
        </p:nvSpPr>
        <p:spPr bwMode="auto">
          <a:xfrm flipH="0" flipV="0">
            <a:off x="187569" y="4007303"/>
            <a:ext cx="8641707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988" lvl="4">
              <a:buClr>
                <a:srgbClr val="000000"/>
              </a:buClr>
              <a:buSzPct val="45000"/>
              <a:buFont typeface="Arial"/>
              <a:buChar char="•"/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20772606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03661" y="3022071"/>
            <a:ext cx="3675695" cy="2027310"/>
          </a:xfrm>
          <a:prstGeom prst="rect">
            <a:avLst/>
          </a:prstGeom>
        </p:spPr>
      </p:pic>
      <p:sp>
        <p:nvSpPr>
          <p:cNvPr id="168451496" name=""/>
          <p:cNvSpPr txBox="1"/>
          <p:nvPr/>
        </p:nvSpPr>
        <p:spPr bwMode="auto">
          <a:xfrm rot="0" flipH="0" flipV="0">
            <a:off x="2663518" y="4744221"/>
            <a:ext cx="242732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</a:t>
            </a:r>
            <a:r>
              <a:rPr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Face tracking window</a:t>
            </a:r>
            <a:endParaRPr/>
          </a:p>
        </p:txBody>
      </p:sp>
      <p:sp>
        <p:nvSpPr>
          <p:cNvPr id="448920128" name=""/>
          <p:cNvSpPr txBox="1"/>
          <p:nvPr/>
        </p:nvSpPr>
        <p:spPr bwMode="auto">
          <a:xfrm rot="0" flipH="0" flipV="0">
            <a:off x="538178" y="3072492"/>
            <a:ext cx="18931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Wingdings"/>
              <a:buChar char="Ø"/>
              <a:defRPr/>
            </a:pPr>
            <a:r>
              <a:rPr sz="1800">
                <a:solidFill>
                  <a:srgbClr val="162C60"/>
                </a:solidFill>
              </a:rPr>
              <a:t>Unit Testing</a:t>
            </a:r>
            <a:r>
              <a:rPr/>
              <a:t>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00459" name="Title 1"/>
          <p:cNvSpPr>
            <a:spLocks noGrp="1"/>
          </p:cNvSpPr>
          <p:nvPr>
            <p:ph type="title"/>
          </p:nvPr>
        </p:nvSpPr>
        <p:spPr bwMode="auto">
          <a:xfrm>
            <a:off x="424775" y="267156"/>
            <a:ext cx="8520599" cy="572699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Arial"/>
                <a:cs typeface="ＭＳ Ｐゴシック"/>
              </a:rPr>
              <a:t>Testing</a:t>
            </a:r>
            <a:endParaRPr/>
          </a:p>
        </p:txBody>
      </p:sp>
      <p:graphicFrame>
        <p:nvGraphicFramePr>
          <p:cNvPr id="794278477" name="Table 7"/>
          <p:cNvGraphicFramePr>
            <a:graphicFrameLocks xmlns:a="http://schemas.openxmlformats.org/drawingml/2006/main"/>
          </p:cNvGraphicFramePr>
          <p:nvPr/>
        </p:nvGraphicFramePr>
        <p:xfrm rot="0">
          <a:off x="538178" y="997691"/>
          <a:ext cx="8297191" cy="10972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76542"/>
                <a:gridCol w="1636313"/>
                <a:gridCol w="1317463"/>
                <a:gridCol w="1580382"/>
                <a:gridCol w="1724658"/>
                <a:gridCol w="1093118"/>
              </a:tblGrid>
              <a:tr h="620092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Test</a:t>
                      </a:r>
                      <a:r>
                        <a:rPr lang="en-IN" sz="1400"/>
                        <a:t> case ID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Feature Tested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IN" sz="1400"/>
                        <a:t>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Sample Input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Expected Output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Actual Output </a:t>
                      </a:r>
                      <a:endParaRPr/>
                    </a:p>
                    <a:p>
                      <a:pPr>
                        <a:defRPr/>
                      </a:pP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Remarks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IN" sz="1400"/>
                        <a:t>( Pass/Fail)</a:t>
                      </a:r>
                      <a:endParaRPr/>
                    </a:p>
                  </a:txBody>
                  <a:tcPr/>
                </a:tc>
              </a:tr>
              <a:tr h="202038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TC-0</a:t>
                      </a: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DB Insert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Score data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Stored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Stored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Pass</a:t>
                      </a:r>
                      <a:endParaRPr lang="en-IN" sz="1800"/>
                    </a:p>
                  </a:txBody>
                  <a:tcPr/>
                </a:tc>
              </a:tr>
              <a:tr h="202038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TC-0</a:t>
                      </a: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Student ID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New ID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Added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Added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Pass</a:t>
                      </a:r>
                      <a:endParaRPr lang="en-IN" sz="1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82871246" name="TextBox 9"/>
          <p:cNvSpPr txBox="1"/>
          <p:nvPr/>
        </p:nvSpPr>
        <p:spPr bwMode="auto">
          <a:xfrm flipH="0" flipV="0">
            <a:off x="187569" y="4007303"/>
            <a:ext cx="8641707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987" lvl="4">
              <a:buClr>
                <a:srgbClr val="000000"/>
              </a:buClr>
              <a:buSzPct val="45000"/>
              <a:buFont typeface="Arial"/>
              <a:buChar char="•"/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1163460977" name=""/>
          <p:cNvPicPr>
            <a:picLocks noChangeAspect="1"/>
          </p:cNvPicPr>
          <p:nvPr/>
        </p:nvPicPr>
        <p:blipFill rotWithShape="1">
          <a:blip r:embed="rId3"/>
          <a:srcRect l="0" t="0" r="54245" b="0"/>
        </p:blipFill>
        <p:spPr bwMode="auto">
          <a:xfrm flipH="0" flipV="0">
            <a:off x="3980785" y="2503713"/>
            <a:ext cx="2884714" cy="2545667"/>
          </a:xfrm>
          <a:prstGeom prst="rect">
            <a:avLst/>
          </a:prstGeom>
        </p:spPr>
      </p:pic>
      <p:sp>
        <p:nvSpPr>
          <p:cNvPr id="403691895" name=""/>
          <p:cNvSpPr txBox="1"/>
          <p:nvPr/>
        </p:nvSpPr>
        <p:spPr bwMode="auto">
          <a:xfrm rot="0" flipH="0" flipV="0">
            <a:off x="2034710" y="4744221"/>
            <a:ext cx="19460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</a:t>
            </a:r>
            <a:r>
              <a:rPr lang="en-US" sz="1400" b="0" i="0" u="none" strike="noStrike" cap="none" spc="0">
                <a:solidFill>
                  <a:srgbClr val="142C60"/>
                </a:solidFill>
                <a:latin typeface="Arial"/>
                <a:ea typeface="Arial"/>
                <a:cs typeface="Arial"/>
              </a:rPr>
              <a:t> SQLite log entries</a:t>
            </a:r>
            <a:endParaRPr/>
          </a:p>
        </p:txBody>
      </p:sp>
      <p:sp>
        <p:nvSpPr>
          <p:cNvPr id="533402579" name=""/>
          <p:cNvSpPr txBox="1"/>
          <p:nvPr/>
        </p:nvSpPr>
        <p:spPr bwMode="auto">
          <a:xfrm rot="0" flipH="0" flipV="0">
            <a:off x="538178" y="2571750"/>
            <a:ext cx="254525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Wingdings"/>
              <a:buChar char="Ø"/>
              <a:defRPr/>
            </a:pPr>
            <a:r>
              <a:rPr sz="1800">
                <a:solidFill>
                  <a:srgbClr val="162C60"/>
                </a:solidFill>
              </a:rPr>
              <a:t>Integration Testing</a:t>
            </a:r>
            <a:r>
              <a:rPr/>
              <a:t>:</a:t>
            </a:r>
            <a:endParaRPr/>
          </a:p>
        </p:txBody>
      </p:sp>
      <p:pic>
        <p:nvPicPr>
          <p:cNvPr id="11310320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865499" y="2503713"/>
            <a:ext cx="1963776" cy="255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208934" name="Title 1"/>
          <p:cNvSpPr>
            <a:spLocks noGrp="1"/>
          </p:cNvSpPr>
          <p:nvPr>
            <p:ph type="title"/>
          </p:nvPr>
        </p:nvSpPr>
        <p:spPr bwMode="auto">
          <a:xfrm>
            <a:off x="424775" y="267156"/>
            <a:ext cx="8520599" cy="572699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Arial"/>
                <a:cs typeface="ＭＳ Ｐゴシック"/>
              </a:rPr>
              <a:t>Testing</a:t>
            </a:r>
            <a:endParaRPr/>
          </a:p>
        </p:txBody>
      </p:sp>
      <p:graphicFrame>
        <p:nvGraphicFramePr>
          <p:cNvPr id="1420288650" name="Table 7"/>
          <p:cNvGraphicFramePr>
            <a:graphicFrameLocks xmlns:a="http://schemas.openxmlformats.org/drawingml/2006/main"/>
          </p:cNvGraphicFramePr>
          <p:nvPr/>
        </p:nvGraphicFramePr>
        <p:xfrm rot="0">
          <a:off x="538178" y="997691"/>
          <a:ext cx="8297191" cy="10972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76542"/>
                <a:gridCol w="1636313"/>
                <a:gridCol w="1317463"/>
                <a:gridCol w="1580382"/>
                <a:gridCol w="1724658"/>
                <a:gridCol w="1093118"/>
              </a:tblGrid>
              <a:tr h="620092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Test</a:t>
                      </a:r>
                      <a:r>
                        <a:rPr lang="en-IN" sz="1400"/>
                        <a:t> case ID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Feature Tested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IN" sz="1400"/>
                        <a:t>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 Sample Input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Expected Output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Actual Output </a:t>
                      </a:r>
                      <a:endParaRPr/>
                    </a:p>
                    <a:p>
                      <a:pPr>
                        <a:defRPr/>
                      </a:pP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400"/>
                        <a:t>Remarks 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en-IN" sz="1400"/>
                        <a:t>( Pass/Fail)</a:t>
                      </a:r>
                      <a:endParaRPr/>
                    </a:p>
                  </a:txBody>
                  <a:tcPr/>
                </a:tc>
              </a:tr>
              <a:tr h="656580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TC-0</a:t>
                      </a: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Dashboard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Live data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Update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Update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Pass</a:t>
                      </a:r>
                      <a:endParaRPr lang="en-IN" sz="1800"/>
                    </a:p>
                  </a:txBody>
                  <a:tcPr/>
                </a:tc>
              </a:tr>
              <a:tr h="202038">
                <a:tc>
                  <a:txBody>
                    <a:bodyPr/>
                    <a:p>
                      <a:pPr>
                        <a:defRPr/>
                      </a:pPr>
                      <a:r>
                        <a:rPr lang="en-IN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TC-0</a:t>
                      </a:r>
                      <a:r>
                        <a:rPr lang="en-US" sz="1800" b="0" i="0" u="none" strike="noStrike" cap="none" spc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Admin History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Student ID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Show history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Displayed</a:t>
                      </a:r>
                      <a:endParaRPr lang="en-I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/>
                        <a:t>Pass</a:t>
                      </a:r>
                      <a:endParaRPr lang="en-IN" sz="1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10031986" name="TextBox 9"/>
          <p:cNvSpPr txBox="1"/>
          <p:nvPr/>
        </p:nvSpPr>
        <p:spPr bwMode="auto">
          <a:xfrm flipH="0" flipV="0">
            <a:off x="187569" y="4007303"/>
            <a:ext cx="8641707" cy="51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0987" lvl="4">
              <a:buClr>
                <a:srgbClr val="000000"/>
              </a:buClr>
              <a:buSzPct val="45000"/>
              <a:buFont typeface="Arial"/>
              <a:buChar char="•"/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2098355850" name=""/>
          <p:cNvPicPr>
            <a:picLocks noChangeAspect="1"/>
          </p:cNvPicPr>
          <p:nvPr/>
        </p:nvPicPr>
        <p:blipFill rotWithShape="1">
          <a:blip r:embed="rId3"/>
          <a:srcRect l="-1362" t="0" r="30539" b="0"/>
        </p:blipFill>
        <p:spPr bwMode="auto">
          <a:xfrm flipH="0" flipV="0">
            <a:off x="6342189" y="2837089"/>
            <a:ext cx="2603186" cy="2212292"/>
          </a:xfrm>
          <a:prstGeom prst="rect">
            <a:avLst/>
          </a:prstGeom>
        </p:spPr>
      </p:pic>
      <p:sp>
        <p:nvSpPr>
          <p:cNvPr id="1696618420" name=""/>
          <p:cNvSpPr txBox="1"/>
          <p:nvPr/>
        </p:nvSpPr>
        <p:spPr bwMode="auto">
          <a:xfrm rot="0" flipH="0" flipV="0">
            <a:off x="1671854" y="4613821"/>
            <a:ext cx="266951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rgbClr val="142C60"/>
                </a:solidFill>
                <a:latin typeface="Arial"/>
                <a:ea typeface="Arial"/>
                <a:cs typeface="Arial"/>
              </a:rPr>
              <a:t>Fig:</a:t>
            </a:r>
            <a:r>
              <a:rPr lang="en-US" sz="14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Dashboard &amp; Admin pages</a:t>
            </a:r>
            <a:endParaRPr/>
          </a:p>
        </p:txBody>
      </p:sp>
      <p:sp>
        <p:nvSpPr>
          <p:cNvPr id="398475260" name=""/>
          <p:cNvSpPr txBox="1"/>
          <p:nvPr/>
        </p:nvSpPr>
        <p:spPr bwMode="auto">
          <a:xfrm rot="0" flipH="0" flipV="0">
            <a:off x="538178" y="2889432"/>
            <a:ext cx="212606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Wingdings"/>
              <a:buChar char="Ø"/>
              <a:defRPr/>
            </a:pPr>
            <a:r>
              <a:rPr sz="1800">
                <a:solidFill>
                  <a:srgbClr val="162C60"/>
                </a:solidFill>
              </a:rPr>
              <a:t>SystemTesting</a:t>
            </a:r>
            <a:r>
              <a:rPr/>
              <a:t>:</a:t>
            </a:r>
            <a:endParaRPr/>
          </a:p>
        </p:txBody>
      </p:sp>
      <p:pic>
        <p:nvPicPr>
          <p:cNvPr id="460486684" name=""/>
          <p:cNvPicPr>
            <a:picLocks noChangeAspect="1"/>
          </p:cNvPicPr>
          <p:nvPr/>
        </p:nvPicPr>
        <p:blipFill rotWithShape="1">
          <a:blip r:embed="rId4"/>
          <a:srcRect l="0" t="0" r="12337" b="0"/>
          <a:stretch/>
        </p:blipFill>
        <p:spPr bwMode="auto">
          <a:xfrm flipH="0" flipV="0">
            <a:off x="4225714" y="2837089"/>
            <a:ext cx="2170339" cy="22122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616792" name="Title 1"/>
          <p:cNvSpPr>
            <a:spLocks noGrp="1"/>
          </p:cNvSpPr>
          <p:nvPr>
            <p:ph type="title"/>
          </p:nvPr>
        </p:nvSpPr>
        <p:spPr bwMode="auto">
          <a:xfrm>
            <a:off x="311700" y="231987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Results and Conclusion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5062855" name="Text Placeholder 6"/>
          <p:cNvSpPr>
            <a:spLocks noGrp="1"/>
          </p:cNvSpPr>
          <p:nvPr>
            <p:ph type="body" idx="1"/>
          </p:nvPr>
        </p:nvSpPr>
        <p:spPr bwMode="auto">
          <a:xfrm flipH="0" flipV="0">
            <a:off x="723860" y="2040342"/>
            <a:ext cx="7696279" cy="2496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System successfully tracks student attention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Supports multiple students simultaneously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Accurate real-time visualization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Historical data stored &amp; retrievable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Reports generated successfully</a:t>
            </a:r>
            <a:r>
              <a:rPr sz="1800" b="0" i="0" u="none" strike="noStrike" cap="none" spc="0">
                <a:solidFill>
                  <a:srgbClr val="162C60"/>
                </a:solidFill>
                <a:latin typeface="Arial"/>
                <a:cs typeface="Arial"/>
              </a:rPr>
              <a:t>.</a:t>
            </a:r>
            <a:endParaRPr sz="1800" b="0" i="0" u="none" strike="noStrike" cap="none" spc="0">
              <a:solidFill>
                <a:srgbClr val="162C6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buSzPct val="45000"/>
              <a:defRPr/>
            </a:pPr>
            <a:endParaRPr lang="en-IN" sz="2400" b="1" spc="-1">
              <a:solidFill>
                <a:srgbClr val="000000"/>
              </a:solidFill>
              <a:latin typeface="Times New Roman"/>
              <a:ea typeface="MS PGothic"/>
              <a:cs typeface="Times New Roman"/>
            </a:endParaRPr>
          </a:p>
          <a:p>
            <a:pPr marL="114299" indent="0">
              <a:buClr>
                <a:srgbClr val="000000"/>
              </a:buClr>
              <a:buSzPct val="45000"/>
              <a:buNone/>
              <a:defRPr/>
            </a:pPr>
            <a:r>
              <a:rPr lang="en-IN" sz="2400" b="1" spc="-1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 </a:t>
            </a:r>
            <a:endParaRPr/>
          </a:p>
        </p:txBody>
      </p:sp>
      <p:sp>
        <p:nvSpPr>
          <p:cNvPr id="1028058170" name=""/>
          <p:cNvSpPr txBox="1"/>
          <p:nvPr/>
        </p:nvSpPr>
        <p:spPr bwMode="auto">
          <a:xfrm rot="0" flipH="0" flipV="0">
            <a:off x="805502" y="1643742"/>
            <a:ext cx="124438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>
              <a:defRPr/>
            </a:pPr>
            <a:r>
              <a:rPr lang="en-IN" sz="2000" b="1">
                <a:solidFill>
                  <a:srgbClr val="162C60"/>
                </a:solidFill>
                <a:latin typeface="Arial"/>
                <a:cs typeface="ＭＳ Ｐゴシック"/>
              </a:rPr>
              <a:t>Results</a:t>
            </a:r>
            <a:r>
              <a:rPr lang="en-US" sz="2000" b="1">
                <a:solidFill>
                  <a:srgbClr val="162C60"/>
                </a:solidFill>
                <a:latin typeface="Arial"/>
                <a:cs typeface="ＭＳ Ｐゴシック"/>
              </a:rPr>
              <a:t>:</a:t>
            </a:r>
            <a:endParaRPr lang="en-IN" sz="3200" b="1">
              <a:solidFill>
                <a:schemeClr val="tx1"/>
              </a:solidFill>
              <a:latin typeface="Arial"/>
              <a:cs typeface="ＭＳ Ｐゴシック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665452" name="Title 1"/>
          <p:cNvSpPr>
            <a:spLocks noGrp="1"/>
          </p:cNvSpPr>
          <p:nvPr>
            <p:ph type="title"/>
          </p:nvPr>
        </p:nvSpPr>
        <p:spPr bwMode="auto">
          <a:xfrm>
            <a:off x="311699" y="231986"/>
            <a:ext cx="8520599" cy="572699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Arial"/>
                <a:cs typeface="ＭＳ Ｐゴシック"/>
              </a:rPr>
              <a:t>Results and Conclusion</a:t>
            </a:r>
            <a:endParaRPr lang="en-IN" sz="3200" b="1">
              <a:solidFill>
                <a:schemeClr val="tx1"/>
              </a:solidFill>
              <a:latin typeface="Arial"/>
              <a:cs typeface="ＭＳ Ｐゴシック"/>
            </a:endParaRPr>
          </a:p>
        </p:txBody>
      </p:sp>
      <p:sp>
        <p:nvSpPr>
          <p:cNvPr id="808213562" name="Text Placeholder 6"/>
          <p:cNvSpPr>
            <a:spLocks noGrp="1"/>
          </p:cNvSpPr>
          <p:nvPr>
            <p:ph type="body" idx="1"/>
          </p:nvPr>
        </p:nvSpPr>
        <p:spPr bwMode="auto">
          <a:xfrm flipH="0" flipV="0">
            <a:off x="719000" y="2115181"/>
            <a:ext cx="7705999" cy="2496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FocusSense meets all project objectives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Real-time and scalable solution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Useful for modern online education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lang="en-IN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Phase-III implementation completed successfully</a:t>
            </a:r>
            <a:r>
              <a:rPr/>
              <a:t>.</a:t>
            </a:r>
            <a:endParaRPr lang="en-IN" sz="1800" b="0" i="0" u="none" strike="noStrike" cap="none" spc="0">
              <a:solidFill>
                <a:srgbClr val="162C60"/>
              </a:solidFill>
              <a:latin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endParaRPr sz="1800" b="0" i="0" u="none" strike="noStrike" cap="none" spc="0">
              <a:solidFill>
                <a:srgbClr val="162C6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buSzPct val="45000"/>
              <a:defRPr/>
            </a:pPr>
            <a:endParaRPr lang="en-IN" sz="2400" b="1" spc="0">
              <a:solidFill>
                <a:srgbClr val="000000"/>
              </a:solidFill>
              <a:latin typeface="Times New Roman"/>
              <a:ea typeface="MS PGothic"/>
              <a:cs typeface="Times New Roman"/>
            </a:endParaRPr>
          </a:p>
          <a:p>
            <a:pPr marL="114299" indent="0">
              <a:buClr>
                <a:srgbClr val="000000"/>
              </a:buClr>
              <a:buSzPct val="45000"/>
              <a:buNone/>
              <a:defRPr/>
            </a:pPr>
            <a:r>
              <a:rPr lang="en-IN" sz="2400" b="1" spc="0">
                <a:solidFill>
                  <a:srgbClr val="000000"/>
                </a:solidFill>
                <a:latin typeface="Times New Roman"/>
                <a:ea typeface="MS PGothic"/>
                <a:cs typeface="Times New Roman"/>
              </a:rPr>
              <a:t> </a:t>
            </a:r>
            <a:endParaRPr/>
          </a:p>
        </p:txBody>
      </p:sp>
      <p:sp>
        <p:nvSpPr>
          <p:cNvPr id="1028604123" name=""/>
          <p:cNvSpPr txBox="1"/>
          <p:nvPr/>
        </p:nvSpPr>
        <p:spPr bwMode="auto">
          <a:xfrm rot="0" flipH="0" flipV="0">
            <a:off x="719000" y="1658346"/>
            <a:ext cx="1862912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>
              <a:defRPr/>
            </a:pPr>
            <a:r>
              <a:rPr lang="en-US" sz="2000" b="1">
                <a:solidFill>
                  <a:srgbClr val="162C60"/>
                </a:solidFill>
                <a:latin typeface="Arial"/>
                <a:cs typeface="ＭＳ Ｐゴシック"/>
              </a:rPr>
              <a:t>Conclusion</a:t>
            </a:r>
            <a:r>
              <a:rPr lang="en-US" sz="2000" b="1">
                <a:solidFill>
                  <a:srgbClr val="162C60"/>
                </a:solidFill>
                <a:latin typeface="Arial"/>
                <a:cs typeface="ＭＳ Ｐゴシック"/>
              </a:rPr>
              <a:t>:</a:t>
            </a:r>
            <a:endParaRPr lang="en-IN" sz="3200" b="1">
              <a:solidFill>
                <a:schemeClr val="tx1"/>
              </a:solidFill>
              <a:latin typeface="Arial"/>
              <a:cs typeface="ＭＳ Ｐゴシック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456698" name="Title 1"/>
          <p:cNvSpPr>
            <a:spLocks noGrp="1"/>
          </p:cNvSpPr>
          <p:nvPr>
            <p:ph type="title"/>
          </p:nvPr>
        </p:nvSpPr>
        <p:spPr bwMode="auto">
          <a:xfrm>
            <a:off x="401329" y="314048"/>
            <a:ext cx="8520600" cy="572700"/>
          </a:xfrm>
        </p:spPr>
        <p:txBody>
          <a:bodyPr>
            <a:normAutofit fontScale="90000"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latin typeface="+mj-lt"/>
                <a:cs typeface="ＭＳ Ｐゴシック"/>
              </a:rPr>
              <a:t>Future Enhancement </a:t>
            </a:r>
            <a:endParaRPr lang="en-IN" sz="3200" b="1">
              <a:solidFill>
                <a:schemeClr val="tx1"/>
              </a:solidFill>
              <a:latin typeface="+mj-lt"/>
              <a:cs typeface="ＭＳ Ｐゴシック"/>
            </a:endParaRPr>
          </a:p>
        </p:txBody>
      </p:sp>
      <p:sp>
        <p:nvSpPr>
          <p:cNvPr id="1576227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605871" y="1421946"/>
            <a:ext cx="7436646" cy="3088821"/>
          </a:xfrm>
        </p:spPr>
        <p:txBody>
          <a:bodyPr>
            <a:normAutofit/>
          </a:bodyPr>
          <a:lstStyle/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sz="18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Mobile (Android) client</a:t>
            </a:r>
            <a:endParaRPr sz="1800" b="0" i="0" u="none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sz="18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Cloud deployment</a:t>
            </a:r>
            <a:endParaRPr sz="1800" b="0" i="0" u="none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sz="18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Teacher alerts for low attention</a:t>
            </a:r>
            <a:endParaRPr sz="1800" b="0" i="0" u="none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sz="18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Emotion detection</a:t>
            </a:r>
            <a:endParaRPr sz="1800" b="0" i="0" u="none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sz="18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AI-based performance prediction</a:t>
            </a:r>
            <a:endParaRPr sz="1800" b="0" i="0" u="none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>
              <a:buClr>
                <a:schemeClr val="dk2"/>
              </a:buClr>
              <a:buSzPts val="1800"/>
              <a:buFont typeface="Wingdings"/>
              <a:buChar char="Ø"/>
              <a:defRPr/>
            </a:pPr>
            <a:r>
              <a:rPr sz="1800" b="0" i="0" u="none">
                <a:solidFill>
                  <a:srgbClr val="162C60"/>
                </a:solidFill>
                <a:latin typeface="Arial"/>
                <a:ea typeface="Arial"/>
                <a:cs typeface="Arial"/>
              </a:rPr>
              <a:t>Role-based authentication</a:t>
            </a:r>
            <a:endParaRPr sz="1800">
              <a:solidFill>
                <a:srgbClr val="162C60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724542" name="Rectangle 1"/>
          <p:cNvSpPr/>
          <p:nvPr/>
        </p:nvSpPr>
        <p:spPr bwMode="auto">
          <a:xfrm flipH="0" flipV="0">
            <a:off x="843147" y="1332133"/>
            <a:ext cx="8085273" cy="3657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3879" indent="-283879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OpenCV Documentation,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Open Source Computer Vision Library,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Available: https://docs.opencv.org/</a:t>
            </a:r>
            <a:endParaRPr lang="en-US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Google MediaPipe,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Face Mesh and Landmark Detection,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Available: https://developers.google.com/mediapipe</a:t>
            </a:r>
            <a:endParaRPr lang="en-US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Flask Documentation,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Flask: A Lightweight WSGI Web Application Framework,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Available: https://flask.palletsprojects.com/</a:t>
            </a:r>
            <a:endParaRPr lang="en-US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SQLite Documentation,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SQLite – Lightweight Relational Database,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Available: https://www.sqlite.org/docs.html</a:t>
            </a:r>
            <a:endParaRPr lang="en-US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TensorFlow/Keras Documentation,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Deep Learning Framework for Model Training,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Available: https://www.tensorflow.org/guide/keras</a:t>
            </a:r>
            <a:endParaRPr lang="en-US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S. K. Chavan and A. A. Patil,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“Real-Time Face Detection and Attention Monitoring System,”</a:t>
            </a:r>
            <a:r>
              <a:rPr lang="en-US" sz="1800" b="0" i="0" u="none" strike="noStrike" cap="none" spc="0">
                <a:solidFill>
                  <a:srgbClr val="162C60"/>
                </a:solidFill>
                <a:latin typeface="Arial"/>
                <a:ea typeface="Arial"/>
                <a:cs typeface="Arial"/>
              </a:rPr>
              <a:t>International Journal of Computer Applications, vol. 176, no. 22, pp. 1–5, 2020.</a:t>
            </a:r>
            <a:endParaRPr lang="en-US" sz="1800" b="0" i="0" u="none" strike="noStrike" cap="none" spc="0">
              <a:solidFill>
                <a:srgbClr val="162C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365144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1426482" y="0"/>
            <a:ext cx="6672648" cy="1230312"/>
          </a:xfrm>
        </p:spPr>
        <p:txBody>
          <a:bodyPr>
            <a:normAutofit/>
          </a:bodyPr>
          <a:lstStyle/>
          <a:p>
            <a:pPr algn="ctr" defTabSz="914400">
              <a:defRPr/>
            </a:pPr>
            <a:r>
              <a:rPr lang="en-IN" sz="3200" b="1">
                <a:solidFill>
                  <a:schemeClr val="tx1"/>
                </a:solidFill>
                <a:cs typeface="ＭＳ Ｐゴシック"/>
              </a:rPr>
              <a:t>References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170230" name="Rectangle 1"/>
          <p:cNvSpPr/>
          <p:nvPr/>
        </p:nvSpPr>
        <p:spPr bwMode="auto">
          <a:xfrm>
            <a:off x="713879" y="2522942"/>
            <a:ext cx="7903930" cy="82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en-US" sz="4800">
                <a:latin typeface="Times New Roman"/>
                <a:cs typeface="Times New Roman"/>
              </a:rPr>
              <a:t>THANKYOU</a:t>
            </a:r>
            <a:endParaRPr/>
          </a:p>
        </p:txBody>
      </p:sp>
      <p:sp>
        <p:nvSpPr>
          <p:cNvPr id="467534260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1426481" y="0"/>
            <a:ext cx="6672647" cy="1230311"/>
          </a:xfrm>
        </p:spPr>
        <p:txBody>
          <a:bodyPr>
            <a:normAutofit/>
          </a:bodyPr>
          <a:lstStyle/>
          <a:p>
            <a:pPr algn="ctr" defTabSz="914400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ksj</dc:creator>
  <cp:lastModifiedBy/>
  <cp:revision>16</cp:revision>
  <dcterms:modified xsi:type="dcterms:W3CDTF">2026-01-21T09:36:10Z</dcterms:modified>
</cp:coreProperties>
</file>