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docProps/custom.xml" ContentType="application/vnd.openxmlformats-officedocument.custom-properties+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6.xml" ContentType="application/vnd.openxmlformats-officedocument.presentationml.slideLayout+xml"/>
  <Override PartName="/ppt/slides/slide6.xml" ContentType="application/vnd.openxmlformats-officedocument.presentationml.slide+xml"/>
  <Override PartName="/ppt/slides/slide1.xml" ContentType="application/vnd.openxmlformats-officedocument.presentationml.slide+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slides/slide10.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trictFirstAndLastChars="0">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78" d="100"/>
          <a:sy n="78" d="100"/>
        </p:scale>
        <p:origin x="54" y="84"/>
      </p:cViewPr>
      <p:guideLst>
        <p:guide pos="1620" orient="horz"/>
        <p:guide pos="2887"/>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15573754" name="Google Shape;3;n"/>
          <p:cNvSpPr>
            <a:spLocks noChangeAspect="1" noGrp="1" noRot="1"/>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3791759"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08682450" name="Google Shape;51;p: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10347095" name="Google Shape;52;p: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11542881"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43712643"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39991983"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23915716"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7082357"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39777568"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38524838"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27331946"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14170328"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89637657"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74778660"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73626953"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1503160"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81005622"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8587545"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53712787"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72799134"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8234718"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3487309"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61784223"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8381154"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41080612"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99231280"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63157095"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3877269"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72866578"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72525622"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17385119"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20472538"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9854525"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83599900" name="Google Shape;55;g23d66680d41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11957947" name="Google Shape;56;g23d66680d41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2049866166" name="Google Shape;11;p2"/>
          <p:cNvSpPr txBox="1">
            <a:spLocks noGrp="1"/>
          </p:cNvSpPr>
          <p:nvPr>
            <p:ph type="ctrTitle"/>
          </p:nvPr>
        </p:nvSpPr>
        <p:spPr bwMode="auto">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378460376" name="Google Shape;12;p2"/>
          <p:cNvSpPr txBox="1">
            <a:spLocks noGrp="1"/>
          </p:cNvSpPr>
          <p:nvPr>
            <p:ph type="subTitle" idx="1"/>
          </p:nvPr>
        </p:nvSpPr>
        <p:spPr bwMode="auto">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479111967" name="Google Shape;13;p2"/>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pic>
        <p:nvPicPr>
          <p:cNvPr id="207472255" name="Google Shape;14;p2"/>
          <p:cNvPicPr/>
          <p:nvPr/>
        </p:nvPicPr>
        <p:blipFill rotWithShape="1">
          <a:blip r:embed="rId2"/>
          <a:stretch/>
        </p:blipFill>
        <p:spPr bwMode="auto">
          <a:xfrm>
            <a:off x="3463213" y="4730051"/>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307848987" name="Google Shape;16;p3"/>
          <p:cNvSpPr txBox="1">
            <a:spLocks noGrp="1"/>
          </p:cNvSpPr>
          <p:nvPr>
            <p:ph type="title"/>
          </p:nvPr>
        </p:nvSpPr>
        <p:spPr bwMode="auto">
          <a:xfrm>
            <a:off x="391725" y="9341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629952305" name="Google Shape;17;p3"/>
          <p:cNvSpPr txBox="1">
            <a:spLocks noGrp="1"/>
          </p:cNvSpPr>
          <p:nvPr>
            <p:ph type="body" idx="1"/>
          </p:nvPr>
        </p:nvSpPr>
        <p:spPr bwMode="auto">
          <a:xfrm>
            <a:off x="253250" y="1857500"/>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1371568658" name="Google Shape;18;p3"/>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pic>
        <p:nvPicPr>
          <p:cNvPr id="931513211" name="Google Shape;19;p3"/>
          <p:cNvPicPr/>
          <p:nvPr/>
        </p:nvPicPr>
        <p:blipFill rotWithShape="1">
          <a:blip r:embed="rId2"/>
          <a:stretch/>
        </p:blipFill>
        <p:spPr bwMode="auto">
          <a:xfrm>
            <a:off x="6983600" y="415175"/>
            <a:ext cx="1974051" cy="30017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734418464" name="Google Shape;21;p4"/>
          <p:cNvSpPr txBox="1">
            <a:spLocks noGrp="1"/>
          </p:cNvSpPr>
          <p:nvPr>
            <p:ph type="title"/>
          </p:nvPr>
        </p:nvSpPr>
        <p:spPr bwMode="auto">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15441565" name="Google Shape;22;p4"/>
          <p:cNvSpPr txBox="1">
            <a:spLocks noGrp="1"/>
          </p:cNvSpPr>
          <p:nvPr>
            <p:ph type="body" idx="1"/>
          </p:nvPr>
        </p:nvSpPr>
        <p:spPr bwMode="auto">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575702715" name="Google Shape;23;p4"/>
          <p:cNvSpPr txBox="1">
            <a:spLocks noGrp="1"/>
          </p:cNvSpPr>
          <p:nvPr>
            <p:ph type="body" idx="2"/>
          </p:nvPr>
        </p:nvSpPr>
        <p:spPr bwMode="auto">
          <a:xfrm>
            <a:off x="4832399"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153902266" name="Google Shape;24;p4"/>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1959098068" name="Google Shape;26;p5"/>
          <p:cNvSpPr txBox="1">
            <a:spLocks noGrp="1"/>
          </p:cNvSpPr>
          <p:nvPr>
            <p:ph type="title"/>
          </p:nvPr>
        </p:nvSpPr>
        <p:spPr bwMode="auto">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652013632" name="Google Shape;27;p5"/>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422697575" name="Google Shape;29;p6"/>
          <p:cNvSpPr txBox="1">
            <a:spLocks noGrp="1"/>
          </p:cNvSpPr>
          <p:nvPr>
            <p:ph type="title"/>
          </p:nvPr>
        </p:nvSpPr>
        <p:spPr bwMode="auto">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1805102380" name="Google Shape;30;p6"/>
          <p:cNvSpPr txBox="1">
            <a:spLocks noGrp="1"/>
          </p:cNvSpPr>
          <p:nvPr>
            <p:ph type="body" idx="1"/>
          </p:nvPr>
        </p:nvSpPr>
        <p:spPr bwMode="auto">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81179188" name="Google Shape;31;p6"/>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50750833" name="Google Shape;33;p7"/>
          <p:cNvSpPr txBox="1">
            <a:spLocks noGrp="1"/>
          </p:cNvSpPr>
          <p:nvPr>
            <p:ph type="title"/>
          </p:nvPr>
        </p:nvSpPr>
        <p:spPr bwMode="auto">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1824071693" name="Google Shape;34;p7"/>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209044105" name="Google Shape;36;p8"/>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89624" name="Google Shape;37;p8"/>
          <p:cNvSpPr txBox="1">
            <a:spLocks noGrp="1"/>
          </p:cNvSpPr>
          <p:nvPr>
            <p:ph type="title"/>
          </p:nvPr>
        </p:nvSpPr>
        <p:spPr bwMode="auto">
          <a:xfrm>
            <a:off x="265500" y="1233175"/>
            <a:ext cx="4045199"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1926153186" name="Google Shape;38;p8"/>
          <p:cNvSpPr txBox="1">
            <a:spLocks noGrp="1"/>
          </p:cNvSpPr>
          <p:nvPr>
            <p:ph type="subTitle" idx="1"/>
          </p:nvPr>
        </p:nvSpPr>
        <p:spPr bwMode="auto">
          <a:xfrm>
            <a:off x="265500" y="2803075"/>
            <a:ext cx="4045199" cy="1235099"/>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981342525" name="Google Shape;39;p8"/>
          <p:cNvSpPr txBox="1">
            <a:spLocks noGrp="1"/>
          </p:cNvSpPr>
          <p:nvPr>
            <p:ph type="body" idx="2"/>
          </p:nvPr>
        </p:nvSpPr>
        <p:spPr bwMode="auto">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1091052389" name="Google Shape;40;p8"/>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176075379" name="Google Shape;42;p9"/>
          <p:cNvSpPr txBox="1">
            <a:spLocks noGrp="1"/>
          </p:cNvSpPr>
          <p:nvPr>
            <p:ph type="body" idx="1"/>
          </p:nvPr>
        </p:nvSpPr>
        <p:spPr bwMode="auto">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348239110" name="Google Shape;43;p9"/>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190895545" name="Google Shape;45;p10"/>
          <p:cNvSpPr txBox="1">
            <a:spLocks noGrp="1"/>
          </p:cNvSpPr>
          <p:nvPr>
            <p:ph type="title" hasCustomPrompt="1"/>
          </p:nvPr>
        </p:nvSpPr>
        <p:spPr bwMode="auto">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918785983" name="Google Shape;46;p10"/>
          <p:cNvSpPr txBox="1">
            <a:spLocks noGrp="1"/>
          </p:cNvSpPr>
          <p:nvPr>
            <p:ph type="body" idx="1"/>
          </p:nvPr>
        </p:nvSpPr>
        <p:spPr bwMode="auto">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1698424567" name="Google Shape;47;p10"/>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880079995" name="Google Shape;49;p11"/>
          <p:cNvSpPr txBox="1">
            <a:spLocks noGrp="1"/>
          </p:cNvSpPr>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
            </a:fld>
            <a:endParaRPr lang="en-GB"/>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 Id="rId1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blipFill rotWithShape="1">
          <a:blip r:embed="rId12"/>
          <a:stretch/>
        </a:blipFill>
      </p:bgPr>
    </p:bg>
    <p:spTree>
      <p:nvGrpSpPr>
        <p:cNvPr id="1" name=""/>
        <p:cNvGrpSpPr/>
        <p:nvPr/>
      </p:nvGrpSpPr>
      <p:grpSpPr bwMode="auto">
        <a:xfrm>
          <a:off x="0" y="0"/>
          <a:ext cx="0" cy="0"/>
          <a:chOff x="0" y="0"/>
          <a:chExt cx="0" cy="0"/>
        </a:xfrm>
      </p:grpSpPr>
      <p:sp>
        <p:nvSpPr>
          <p:cNvPr id="2142310839" name="Google Shape;6;p1"/>
          <p:cNvSpPr txBox="1">
            <a:spLocks noGrp="1"/>
          </p:cNvSpPr>
          <p:nvPr>
            <p:ph type="title"/>
          </p:nvPr>
        </p:nvSpPr>
        <p:spPr bwMode="auto">
          <a:xfrm>
            <a:off x="391725" y="77650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1182772315" name="Google Shape;7;p1"/>
          <p:cNvSpPr txBox="1">
            <a:spLocks noGrp="1"/>
          </p:cNvSpPr>
          <p:nvPr>
            <p:ph type="body" idx="1"/>
          </p:nvPr>
        </p:nvSpPr>
        <p:spPr bwMode="auto">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895470640" name="Google Shape;8;p1"/>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GB"/>
              <a:t/>
            </a:fld>
            <a:endParaRPr lang="en-GB"/>
          </a:p>
        </p:txBody>
      </p:sp>
      <p:pic>
        <p:nvPicPr>
          <p:cNvPr id="20019268" name="Google Shape;9;p1"/>
          <p:cNvPicPr/>
          <p:nvPr/>
        </p:nvPicPr>
        <p:blipFill rotWithShape="1">
          <a:blip r:embed="rId13"/>
          <a:stretch/>
        </p:blipFill>
        <p:spPr bwMode="auto">
          <a:xfrm>
            <a:off x="216000" y="216000"/>
            <a:ext cx="1507681" cy="6479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8542155" name="object 2"/>
          <p:cNvSpPr txBox="1">
            <a:spLocks noChangeArrowheads="1"/>
          </p:cNvSpPr>
          <p:nvPr/>
        </p:nvSpPr>
        <p:spPr bwMode="auto">
          <a:xfrm>
            <a:off x="1793174" y="438778"/>
            <a:ext cx="7006441" cy="380873"/>
          </a:xfrm>
          <a:prstGeom prst="rect">
            <a:avLst/>
          </a:prstGeom>
          <a:noFill/>
          <a:ln>
            <a:noFill/>
          </a:ln>
        </p:spPr>
        <p:txBody>
          <a:bodyPr wrap="square" lIns="0" tIns="11430" rIns="0" bIns="0">
            <a:spAutoFit/>
          </a:bodyPr>
          <a:lstStyle>
            <a:lvl1pPr marL="12700">
              <a:spcBef>
                <a:spcPts val="0"/>
              </a:spcBef>
              <a:tabLst>
                <a:tab pos="3514725" algn="l"/>
              </a:tabLst>
              <a:defRPr>
                <a:solidFill>
                  <a:schemeClr val="tx1"/>
                </a:solidFill>
                <a:latin typeface="Calibri"/>
                <a:ea typeface="MS PGothic"/>
              </a:defRPr>
            </a:lvl1pPr>
            <a:lvl2pPr marL="742950" indent="-285750">
              <a:spcBef>
                <a:spcPts val="0"/>
              </a:spcBef>
              <a:tabLst>
                <a:tab pos="3514725" algn="l"/>
              </a:tabLst>
              <a:defRPr>
                <a:solidFill>
                  <a:schemeClr val="tx1"/>
                </a:solidFill>
                <a:latin typeface="Calibri"/>
                <a:ea typeface="MS PGothic"/>
              </a:defRPr>
            </a:lvl2pPr>
            <a:lvl3pPr marL="1143000" indent="-228600">
              <a:spcBef>
                <a:spcPts val="0"/>
              </a:spcBef>
              <a:tabLst>
                <a:tab pos="3514725" algn="l"/>
              </a:tabLst>
              <a:defRPr>
                <a:solidFill>
                  <a:schemeClr val="tx1"/>
                </a:solidFill>
                <a:latin typeface="Calibri"/>
                <a:ea typeface="MS PGothic"/>
              </a:defRPr>
            </a:lvl3pPr>
            <a:lvl4pPr marL="1600200" indent="-228600">
              <a:spcBef>
                <a:spcPts val="0"/>
              </a:spcBef>
              <a:tabLst>
                <a:tab pos="3514725" algn="l"/>
              </a:tabLst>
              <a:defRPr>
                <a:solidFill>
                  <a:schemeClr val="tx1"/>
                </a:solidFill>
                <a:latin typeface="Calibri"/>
                <a:ea typeface="MS PGothic"/>
              </a:defRPr>
            </a:lvl4pPr>
            <a:lvl5pPr marL="2057400" indent="-228600">
              <a:spcBef>
                <a:spcPts val="0"/>
              </a:spcBef>
              <a:tabLst>
                <a:tab pos="3514725" algn="l"/>
              </a:tabLst>
              <a:defRPr>
                <a:solidFill>
                  <a:schemeClr val="tx1"/>
                </a:solidFill>
                <a:latin typeface="Calibri"/>
                <a:ea typeface="MS PGothic"/>
              </a:defRPr>
            </a:lvl5pPr>
            <a:lvl6pPr marL="2514600" indent="-228600" defTabSz="457200">
              <a:spcBef>
                <a:spcPts val="0"/>
              </a:spcBef>
              <a:spcAft>
                <a:spcPts val="0"/>
              </a:spcAft>
              <a:tabLst>
                <a:tab pos="3514725" algn="l"/>
              </a:tabLst>
              <a:defRPr>
                <a:solidFill>
                  <a:schemeClr val="tx1"/>
                </a:solidFill>
                <a:latin typeface="Calibri"/>
                <a:ea typeface="MS PGothic"/>
              </a:defRPr>
            </a:lvl6pPr>
            <a:lvl7pPr marL="2971800" indent="-228600" defTabSz="457200">
              <a:spcBef>
                <a:spcPts val="0"/>
              </a:spcBef>
              <a:spcAft>
                <a:spcPts val="0"/>
              </a:spcAft>
              <a:tabLst>
                <a:tab pos="3514725" algn="l"/>
              </a:tabLst>
              <a:defRPr>
                <a:solidFill>
                  <a:schemeClr val="tx1"/>
                </a:solidFill>
                <a:latin typeface="Calibri"/>
                <a:ea typeface="MS PGothic"/>
              </a:defRPr>
            </a:lvl7pPr>
            <a:lvl8pPr marL="3429000" indent="-228600" defTabSz="457200">
              <a:spcBef>
                <a:spcPts val="0"/>
              </a:spcBef>
              <a:spcAft>
                <a:spcPts val="0"/>
              </a:spcAft>
              <a:tabLst>
                <a:tab pos="3514725" algn="l"/>
              </a:tabLst>
              <a:defRPr>
                <a:solidFill>
                  <a:schemeClr val="tx1"/>
                </a:solidFill>
                <a:latin typeface="Calibri"/>
                <a:ea typeface="MS PGothic"/>
              </a:defRPr>
            </a:lvl8pPr>
            <a:lvl9pPr marL="3886200" indent="-228600" defTabSz="457200">
              <a:spcBef>
                <a:spcPts val="0"/>
              </a:spcBef>
              <a:spcAft>
                <a:spcPts val="0"/>
              </a:spcAft>
              <a:tabLst>
                <a:tab pos="3514725" algn="l"/>
              </a:tabLst>
              <a:defRPr>
                <a:solidFill>
                  <a:schemeClr val="tx1"/>
                </a:solidFill>
                <a:latin typeface="Calibri"/>
                <a:ea typeface="MS PGothic"/>
              </a:defRPr>
            </a:lvl9pPr>
          </a:lstStyle>
          <a:p>
            <a:pPr algn="r">
              <a:spcBef>
                <a:spcPts val="90"/>
              </a:spcBef>
              <a:defRPr/>
            </a:pPr>
            <a:r>
              <a:rPr lang="it-IT" sz="2400" b="1">
                <a:solidFill>
                  <a:srgbClr val="002060"/>
                </a:solidFill>
                <a:latin typeface="Helvetica-Bold"/>
                <a:cs typeface="Arial"/>
              </a:rPr>
              <a:t>Department of Master of Computer Applications</a:t>
            </a:r>
            <a:endParaRPr lang="en-US" sz="2400" b="1">
              <a:solidFill>
                <a:srgbClr val="002060"/>
              </a:solidFill>
              <a:latin typeface="Helvetica-Bold"/>
              <a:cs typeface="Arial"/>
            </a:endParaRPr>
          </a:p>
        </p:txBody>
      </p:sp>
      <p:sp>
        <p:nvSpPr>
          <p:cNvPr id="1138362635" name="object 2"/>
          <p:cNvSpPr txBox="1">
            <a:spLocks noChangeArrowheads="1"/>
          </p:cNvSpPr>
          <p:nvPr/>
        </p:nvSpPr>
        <p:spPr bwMode="auto">
          <a:xfrm>
            <a:off x="-1000898" y="1011104"/>
            <a:ext cx="11963400" cy="380873"/>
          </a:xfrm>
          <a:prstGeom prst="rect">
            <a:avLst/>
          </a:prstGeom>
          <a:noFill/>
          <a:ln>
            <a:noFill/>
          </a:ln>
        </p:spPr>
        <p:txBody>
          <a:bodyPr lIns="0" tIns="11430" rIns="0" bIns="0">
            <a:spAutoFit/>
          </a:bodyPr>
          <a:lstStyle>
            <a:lvl1pPr marL="12700">
              <a:spcBef>
                <a:spcPts val="0"/>
              </a:spcBef>
              <a:tabLst>
                <a:tab pos="3514725" algn="l"/>
              </a:tabLst>
              <a:defRPr>
                <a:solidFill>
                  <a:schemeClr val="tx1"/>
                </a:solidFill>
                <a:latin typeface="Calibri"/>
                <a:ea typeface="MS PGothic"/>
              </a:defRPr>
            </a:lvl1pPr>
            <a:lvl2pPr marL="742950" indent="-285750">
              <a:spcBef>
                <a:spcPts val="0"/>
              </a:spcBef>
              <a:tabLst>
                <a:tab pos="3514725" algn="l"/>
              </a:tabLst>
              <a:defRPr>
                <a:solidFill>
                  <a:schemeClr val="tx1"/>
                </a:solidFill>
                <a:latin typeface="Calibri"/>
                <a:ea typeface="MS PGothic"/>
              </a:defRPr>
            </a:lvl2pPr>
            <a:lvl3pPr marL="1143000" indent="-228600">
              <a:spcBef>
                <a:spcPts val="0"/>
              </a:spcBef>
              <a:tabLst>
                <a:tab pos="3514725" algn="l"/>
              </a:tabLst>
              <a:defRPr>
                <a:solidFill>
                  <a:schemeClr val="tx1"/>
                </a:solidFill>
                <a:latin typeface="Calibri"/>
                <a:ea typeface="MS PGothic"/>
              </a:defRPr>
            </a:lvl3pPr>
            <a:lvl4pPr marL="1600200" indent="-228600">
              <a:spcBef>
                <a:spcPts val="0"/>
              </a:spcBef>
              <a:tabLst>
                <a:tab pos="3514725" algn="l"/>
              </a:tabLst>
              <a:defRPr>
                <a:solidFill>
                  <a:schemeClr val="tx1"/>
                </a:solidFill>
                <a:latin typeface="Calibri"/>
                <a:ea typeface="MS PGothic"/>
              </a:defRPr>
            </a:lvl4pPr>
            <a:lvl5pPr marL="2057400" indent="-228600">
              <a:spcBef>
                <a:spcPts val="0"/>
              </a:spcBef>
              <a:tabLst>
                <a:tab pos="3514725" algn="l"/>
              </a:tabLst>
              <a:defRPr>
                <a:solidFill>
                  <a:schemeClr val="tx1"/>
                </a:solidFill>
                <a:latin typeface="Calibri"/>
                <a:ea typeface="MS PGothic"/>
              </a:defRPr>
            </a:lvl5pPr>
            <a:lvl6pPr marL="2514600" indent="-228600" defTabSz="457200">
              <a:spcBef>
                <a:spcPts val="0"/>
              </a:spcBef>
              <a:spcAft>
                <a:spcPts val="0"/>
              </a:spcAft>
              <a:tabLst>
                <a:tab pos="3514725" algn="l"/>
              </a:tabLst>
              <a:defRPr>
                <a:solidFill>
                  <a:schemeClr val="tx1"/>
                </a:solidFill>
                <a:latin typeface="Calibri"/>
                <a:ea typeface="MS PGothic"/>
              </a:defRPr>
            </a:lvl6pPr>
            <a:lvl7pPr marL="2971800" indent="-228600" defTabSz="457200">
              <a:spcBef>
                <a:spcPts val="0"/>
              </a:spcBef>
              <a:spcAft>
                <a:spcPts val="0"/>
              </a:spcAft>
              <a:tabLst>
                <a:tab pos="3514725" algn="l"/>
              </a:tabLst>
              <a:defRPr>
                <a:solidFill>
                  <a:schemeClr val="tx1"/>
                </a:solidFill>
                <a:latin typeface="Calibri"/>
                <a:ea typeface="MS PGothic"/>
              </a:defRPr>
            </a:lvl7pPr>
            <a:lvl8pPr marL="3429000" indent="-228600" defTabSz="457200">
              <a:spcBef>
                <a:spcPts val="0"/>
              </a:spcBef>
              <a:spcAft>
                <a:spcPts val="0"/>
              </a:spcAft>
              <a:tabLst>
                <a:tab pos="3514725" algn="l"/>
              </a:tabLst>
              <a:defRPr>
                <a:solidFill>
                  <a:schemeClr val="tx1"/>
                </a:solidFill>
                <a:latin typeface="Calibri"/>
                <a:ea typeface="MS PGothic"/>
              </a:defRPr>
            </a:lvl8pPr>
            <a:lvl9pPr marL="3886200" indent="-228600" defTabSz="457200">
              <a:spcBef>
                <a:spcPts val="0"/>
              </a:spcBef>
              <a:spcAft>
                <a:spcPts val="0"/>
              </a:spcAft>
              <a:tabLst>
                <a:tab pos="3514725" algn="l"/>
              </a:tabLst>
              <a:defRPr>
                <a:solidFill>
                  <a:schemeClr val="tx1"/>
                </a:solidFill>
                <a:latin typeface="Calibri"/>
                <a:ea typeface="MS PGothic"/>
              </a:defRPr>
            </a:lvl9pPr>
          </a:lstStyle>
          <a:p>
            <a:pPr algn="ctr">
              <a:spcBef>
                <a:spcPts val="90"/>
              </a:spcBef>
              <a:defRPr/>
            </a:pPr>
            <a:r>
              <a:rPr lang="en-US" sz="2400" b="1">
                <a:solidFill>
                  <a:srgbClr val="002060"/>
                </a:solidFill>
                <a:latin typeface="Helvetica-Bold"/>
                <a:cs typeface="Arial"/>
              </a:rPr>
              <a:t>Minor Project (</a:t>
            </a:r>
            <a:r>
              <a:rPr lang="en-US" sz="2400" b="1">
                <a:solidFill>
                  <a:srgbClr val="002060"/>
                </a:solidFill>
                <a:latin typeface="Helvetica-Bold"/>
                <a:cs typeface="Arial"/>
              </a:rPr>
              <a:t>MCA461P</a:t>
            </a:r>
            <a:r>
              <a:rPr lang="en-US" sz="2400" b="1"/>
              <a:t>) </a:t>
            </a:r>
            <a:r>
              <a:rPr lang="en-US" sz="2400" b="1">
                <a:solidFill>
                  <a:srgbClr val="002060"/>
                </a:solidFill>
                <a:latin typeface="Helvetica-Bold"/>
                <a:cs typeface="Arial"/>
              </a:rPr>
              <a:t>– Phase 1</a:t>
            </a:r>
            <a:endParaRPr lang="en-US" sz="2400" b="1">
              <a:solidFill>
                <a:srgbClr val="002060"/>
              </a:solidFill>
              <a:latin typeface="Helvetica-Bold"/>
              <a:cs typeface="Arial"/>
            </a:endParaRPr>
          </a:p>
        </p:txBody>
      </p:sp>
      <p:sp>
        <p:nvSpPr>
          <p:cNvPr id="1433484393" name="object 2"/>
          <p:cNvSpPr txBox="1">
            <a:spLocks noChangeArrowheads="1"/>
          </p:cNvSpPr>
          <p:nvPr/>
        </p:nvSpPr>
        <p:spPr bwMode="auto">
          <a:xfrm flipH="0" flipV="0">
            <a:off x="924808" y="1786005"/>
            <a:ext cx="7813406" cy="1109069"/>
          </a:xfrm>
          <a:prstGeom prst="rect">
            <a:avLst/>
          </a:prstGeom>
          <a:noFill/>
          <a:ln>
            <a:noFill/>
          </a:ln>
        </p:spPr>
        <p:txBody>
          <a:bodyPr lIns="0" tIns="11430" rIns="0" bIns="0">
            <a:spAutoFit/>
          </a:bodyPr>
          <a:lstStyle>
            <a:lvl1pPr marL="12700">
              <a:spcBef>
                <a:spcPts val="0"/>
              </a:spcBef>
              <a:tabLst>
                <a:tab pos="3514725" algn="l"/>
              </a:tabLst>
              <a:defRPr>
                <a:solidFill>
                  <a:schemeClr val="tx1"/>
                </a:solidFill>
                <a:latin typeface="Calibri"/>
                <a:ea typeface="MS PGothic"/>
              </a:defRPr>
            </a:lvl1pPr>
            <a:lvl2pPr marL="742950" indent="-285750">
              <a:spcBef>
                <a:spcPts val="0"/>
              </a:spcBef>
              <a:tabLst>
                <a:tab pos="3514725" algn="l"/>
              </a:tabLst>
              <a:defRPr>
                <a:solidFill>
                  <a:schemeClr val="tx1"/>
                </a:solidFill>
                <a:latin typeface="Calibri"/>
                <a:ea typeface="MS PGothic"/>
              </a:defRPr>
            </a:lvl2pPr>
            <a:lvl3pPr marL="1143000" indent="-228600">
              <a:spcBef>
                <a:spcPts val="0"/>
              </a:spcBef>
              <a:tabLst>
                <a:tab pos="3514725" algn="l"/>
              </a:tabLst>
              <a:defRPr>
                <a:solidFill>
                  <a:schemeClr val="tx1"/>
                </a:solidFill>
                <a:latin typeface="Calibri"/>
                <a:ea typeface="MS PGothic"/>
              </a:defRPr>
            </a:lvl3pPr>
            <a:lvl4pPr marL="1600200" indent="-228600">
              <a:spcBef>
                <a:spcPts val="0"/>
              </a:spcBef>
              <a:tabLst>
                <a:tab pos="3514725" algn="l"/>
              </a:tabLst>
              <a:defRPr>
                <a:solidFill>
                  <a:schemeClr val="tx1"/>
                </a:solidFill>
                <a:latin typeface="Calibri"/>
                <a:ea typeface="MS PGothic"/>
              </a:defRPr>
            </a:lvl4pPr>
            <a:lvl5pPr marL="2057400" indent="-228600">
              <a:spcBef>
                <a:spcPts val="0"/>
              </a:spcBef>
              <a:tabLst>
                <a:tab pos="3514725" algn="l"/>
              </a:tabLst>
              <a:defRPr>
                <a:solidFill>
                  <a:schemeClr val="tx1"/>
                </a:solidFill>
                <a:latin typeface="Calibri"/>
                <a:ea typeface="MS PGothic"/>
              </a:defRPr>
            </a:lvl5pPr>
            <a:lvl6pPr marL="2514600" indent="-228600" defTabSz="457200">
              <a:spcBef>
                <a:spcPts val="0"/>
              </a:spcBef>
              <a:spcAft>
                <a:spcPts val="0"/>
              </a:spcAft>
              <a:tabLst>
                <a:tab pos="3514725" algn="l"/>
              </a:tabLst>
              <a:defRPr>
                <a:solidFill>
                  <a:schemeClr val="tx1"/>
                </a:solidFill>
                <a:latin typeface="Calibri"/>
                <a:ea typeface="MS PGothic"/>
              </a:defRPr>
            </a:lvl6pPr>
            <a:lvl7pPr marL="2971800" indent="-228600" defTabSz="457200">
              <a:spcBef>
                <a:spcPts val="0"/>
              </a:spcBef>
              <a:spcAft>
                <a:spcPts val="0"/>
              </a:spcAft>
              <a:tabLst>
                <a:tab pos="3514725" algn="l"/>
              </a:tabLst>
              <a:defRPr>
                <a:solidFill>
                  <a:schemeClr val="tx1"/>
                </a:solidFill>
                <a:latin typeface="Calibri"/>
                <a:ea typeface="MS PGothic"/>
              </a:defRPr>
            </a:lvl7pPr>
            <a:lvl8pPr marL="3429000" indent="-228600" defTabSz="457200">
              <a:spcBef>
                <a:spcPts val="0"/>
              </a:spcBef>
              <a:spcAft>
                <a:spcPts val="0"/>
              </a:spcAft>
              <a:tabLst>
                <a:tab pos="3514725" algn="l"/>
              </a:tabLst>
              <a:defRPr>
                <a:solidFill>
                  <a:schemeClr val="tx1"/>
                </a:solidFill>
                <a:latin typeface="Calibri"/>
                <a:ea typeface="MS PGothic"/>
              </a:defRPr>
            </a:lvl8pPr>
            <a:lvl9pPr marL="3886200" indent="-228600" defTabSz="457200">
              <a:spcBef>
                <a:spcPts val="0"/>
              </a:spcBef>
              <a:spcAft>
                <a:spcPts val="0"/>
              </a:spcAft>
              <a:tabLst>
                <a:tab pos="3514725" algn="l"/>
              </a:tabLst>
              <a:defRPr>
                <a:solidFill>
                  <a:schemeClr val="tx1"/>
                </a:solidFill>
                <a:latin typeface="Calibri"/>
                <a:ea typeface="MS PGothic"/>
              </a:defRPr>
            </a:lvl9pPr>
          </a:lstStyle>
          <a:p>
            <a:pPr>
              <a:spcBef>
                <a:spcPts val="90"/>
              </a:spcBef>
              <a:defRPr/>
            </a:pPr>
            <a:r>
              <a:rPr lang="en-US" sz="3600" b="1" i="0" u="none" strike="noStrike" cap="none" spc="0">
                <a:solidFill>
                  <a:srgbClr val="002060"/>
                </a:solidFill>
                <a:latin typeface="Helvetica-Bold"/>
                <a:ea typeface="Helvetica-Bold"/>
                <a:cs typeface="Helvetica-Bold"/>
              </a:rPr>
              <a:t>FocusSense – Eye &amp; Head Pose Detection for Study Concentration</a:t>
            </a:r>
            <a:r>
              <a:rPr lang="en-US" sz="3600" b="1">
                <a:solidFill>
                  <a:srgbClr val="002060"/>
                </a:solidFill>
                <a:latin typeface="Helvetica-Bold"/>
                <a:cs typeface="Arial"/>
              </a:rPr>
              <a:t> </a:t>
            </a:r>
            <a:endParaRPr lang="en-US" sz="3600" b="1">
              <a:solidFill>
                <a:srgbClr val="002060"/>
              </a:solidFill>
              <a:latin typeface="Helvetica-Bold"/>
              <a:cs typeface="Arial"/>
            </a:endParaRPr>
          </a:p>
        </p:txBody>
      </p:sp>
      <p:sp>
        <p:nvSpPr>
          <p:cNvPr id="1680191711" name="object 2"/>
          <p:cNvSpPr txBox="1">
            <a:spLocks noChangeArrowheads="1"/>
          </p:cNvSpPr>
          <p:nvPr/>
        </p:nvSpPr>
        <p:spPr bwMode="auto">
          <a:xfrm flipH="0" flipV="0">
            <a:off x="2078260" y="2672396"/>
            <a:ext cx="4093709" cy="949050"/>
          </a:xfrm>
          <a:prstGeom prst="rect">
            <a:avLst/>
          </a:prstGeom>
          <a:noFill/>
          <a:ln>
            <a:noFill/>
          </a:ln>
        </p:spPr>
        <p:txBody>
          <a:bodyPr lIns="0" tIns="11430" rIns="0" bIns="0">
            <a:spAutoFit/>
          </a:bodyPr>
          <a:lstStyle>
            <a:lvl1pPr marL="12700">
              <a:spcBef>
                <a:spcPts val="0"/>
              </a:spcBef>
              <a:tabLst>
                <a:tab pos="3514725" algn="l"/>
              </a:tabLst>
              <a:defRPr>
                <a:solidFill>
                  <a:schemeClr val="tx1"/>
                </a:solidFill>
                <a:latin typeface="Calibri"/>
                <a:ea typeface="MS PGothic"/>
              </a:defRPr>
            </a:lvl1pPr>
            <a:lvl2pPr marL="742950" indent="-285750">
              <a:spcBef>
                <a:spcPts val="0"/>
              </a:spcBef>
              <a:tabLst>
                <a:tab pos="3514725" algn="l"/>
              </a:tabLst>
              <a:defRPr>
                <a:solidFill>
                  <a:schemeClr val="tx1"/>
                </a:solidFill>
                <a:latin typeface="Calibri"/>
                <a:ea typeface="MS PGothic"/>
              </a:defRPr>
            </a:lvl2pPr>
            <a:lvl3pPr marL="1143000" indent="-228600">
              <a:spcBef>
                <a:spcPts val="0"/>
              </a:spcBef>
              <a:tabLst>
                <a:tab pos="3514725" algn="l"/>
              </a:tabLst>
              <a:defRPr>
                <a:solidFill>
                  <a:schemeClr val="tx1"/>
                </a:solidFill>
                <a:latin typeface="Calibri"/>
                <a:ea typeface="MS PGothic"/>
              </a:defRPr>
            </a:lvl3pPr>
            <a:lvl4pPr marL="1600200" indent="-228600">
              <a:spcBef>
                <a:spcPts val="0"/>
              </a:spcBef>
              <a:tabLst>
                <a:tab pos="3514725" algn="l"/>
              </a:tabLst>
              <a:defRPr>
                <a:solidFill>
                  <a:schemeClr val="tx1"/>
                </a:solidFill>
                <a:latin typeface="Calibri"/>
                <a:ea typeface="MS PGothic"/>
              </a:defRPr>
            </a:lvl4pPr>
            <a:lvl5pPr marL="2057400" indent="-228600">
              <a:spcBef>
                <a:spcPts val="0"/>
              </a:spcBef>
              <a:tabLst>
                <a:tab pos="3514725" algn="l"/>
              </a:tabLst>
              <a:defRPr>
                <a:solidFill>
                  <a:schemeClr val="tx1"/>
                </a:solidFill>
                <a:latin typeface="Calibri"/>
                <a:ea typeface="MS PGothic"/>
              </a:defRPr>
            </a:lvl5pPr>
            <a:lvl6pPr marL="2514600" indent="-228600" defTabSz="457200">
              <a:spcBef>
                <a:spcPts val="0"/>
              </a:spcBef>
              <a:spcAft>
                <a:spcPts val="0"/>
              </a:spcAft>
              <a:tabLst>
                <a:tab pos="3514725" algn="l"/>
              </a:tabLst>
              <a:defRPr>
                <a:solidFill>
                  <a:schemeClr val="tx1"/>
                </a:solidFill>
                <a:latin typeface="Calibri"/>
                <a:ea typeface="MS PGothic"/>
              </a:defRPr>
            </a:lvl6pPr>
            <a:lvl7pPr marL="2971800" indent="-228600" defTabSz="457200">
              <a:spcBef>
                <a:spcPts val="0"/>
              </a:spcBef>
              <a:spcAft>
                <a:spcPts val="0"/>
              </a:spcAft>
              <a:tabLst>
                <a:tab pos="3514725" algn="l"/>
              </a:tabLst>
              <a:defRPr>
                <a:solidFill>
                  <a:schemeClr val="tx1"/>
                </a:solidFill>
                <a:latin typeface="Calibri"/>
                <a:ea typeface="MS PGothic"/>
              </a:defRPr>
            </a:lvl7pPr>
            <a:lvl8pPr marL="3429000" indent="-228600" defTabSz="457200">
              <a:spcBef>
                <a:spcPts val="0"/>
              </a:spcBef>
              <a:spcAft>
                <a:spcPts val="0"/>
              </a:spcAft>
              <a:tabLst>
                <a:tab pos="3514725" algn="l"/>
              </a:tabLst>
              <a:defRPr>
                <a:solidFill>
                  <a:schemeClr val="tx1"/>
                </a:solidFill>
                <a:latin typeface="Calibri"/>
                <a:ea typeface="MS PGothic"/>
              </a:defRPr>
            </a:lvl8pPr>
            <a:lvl9pPr marL="3886200" indent="-228600" defTabSz="457200">
              <a:spcBef>
                <a:spcPts val="0"/>
              </a:spcBef>
              <a:spcAft>
                <a:spcPts val="0"/>
              </a:spcAft>
              <a:tabLst>
                <a:tab pos="3514725" algn="l"/>
              </a:tabLst>
              <a:defRPr>
                <a:solidFill>
                  <a:schemeClr val="tx1"/>
                </a:solidFill>
                <a:latin typeface="Calibri"/>
                <a:ea typeface="MS PGothic"/>
              </a:defRPr>
            </a:lvl9pPr>
          </a:lstStyle>
          <a:p>
            <a:pPr algn="ctr">
              <a:spcBef>
                <a:spcPts val="90"/>
              </a:spcBef>
              <a:defRPr/>
            </a:pPr>
            <a:endParaRPr lang="en-US" sz="2000" b="1">
              <a:solidFill>
                <a:srgbClr val="002060"/>
              </a:solidFill>
              <a:latin typeface="Helvetica-Bold"/>
              <a:cs typeface="Arial"/>
            </a:endParaRPr>
          </a:p>
          <a:p>
            <a:pPr algn="ctr">
              <a:spcBef>
                <a:spcPts val="90"/>
              </a:spcBef>
              <a:defRPr/>
            </a:pPr>
            <a:r>
              <a:rPr lang="en-US" sz="2000" b="1">
                <a:solidFill>
                  <a:srgbClr val="002060"/>
                </a:solidFill>
                <a:latin typeface="Helvetica-Bold"/>
                <a:cs typeface="Arial"/>
              </a:rPr>
              <a:t>Mohit Raj (1RV24MC070)</a:t>
            </a:r>
            <a:endParaRPr lang="en-US" sz="2000" b="1">
              <a:solidFill>
                <a:srgbClr val="002060"/>
              </a:solidFill>
              <a:latin typeface="Helvetica-Bold"/>
              <a:cs typeface="Arial"/>
            </a:endParaRPr>
          </a:p>
          <a:p>
            <a:pPr algn="ctr">
              <a:spcBef>
                <a:spcPts val="90"/>
              </a:spcBef>
              <a:defRPr/>
            </a:pPr>
            <a:r>
              <a:rPr lang="en-US" sz="2000" b="1">
                <a:solidFill>
                  <a:srgbClr val="002060"/>
                </a:solidFill>
                <a:latin typeface="Helvetica-Bold"/>
                <a:cs typeface="Arial"/>
              </a:rPr>
              <a:t> Sameer Patel (1RV24MC091)</a:t>
            </a:r>
            <a:endParaRPr lang="en-US" sz="2000" b="1">
              <a:solidFill>
                <a:srgbClr val="002060"/>
              </a:solidFill>
              <a:latin typeface="Helvetica-Bold"/>
              <a:cs typeface="Arial"/>
            </a:endParaRPr>
          </a:p>
        </p:txBody>
      </p:sp>
      <p:sp>
        <p:nvSpPr>
          <p:cNvPr id="1693905362" name="Rectangle 5"/>
          <p:cNvSpPr/>
          <p:nvPr/>
        </p:nvSpPr>
        <p:spPr bwMode="auto">
          <a:xfrm flipH="0" flipV="0">
            <a:off x="5757119" y="3361358"/>
            <a:ext cx="3257825" cy="1366740"/>
          </a:xfrm>
          <a:prstGeom prst="rect">
            <a:avLst/>
          </a:prstGeom>
        </p:spPr>
        <p:txBody>
          <a:bodyPr>
            <a:noAutofit/>
          </a:bodyPr>
          <a:lstStyle/>
          <a:p>
            <a:pPr algn="ctr">
              <a:spcBef>
                <a:spcPts val="87"/>
              </a:spcBef>
              <a:defRPr/>
            </a:pPr>
            <a:r>
              <a:rPr lang="en-US" sz="2000" b="1" i="0" u="none" strike="noStrike" cap="none" spc="0">
                <a:solidFill>
                  <a:srgbClr val="002060"/>
                </a:solidFill>
                <a:latin typeface="Helvetica-Bold"/>
                <a:ea typeface="ＭＳ Ｐゴシック"/>
                <a:cs typeface="Arial"/>
              </a:rPr>
              <a:t>Under the Guidance </a:t>
            </a:r>
            <a:endParaRPr sz="2000"/>
          </a:p>
          <a:p>
            <a:pPr algn="ctr">
              <a:spcBef>
                <a:spcPts val="87"/>
              </a:spcBef>
              <a:defRPr/>
            </a:pPr>
            <a:r>
              <a:rPr lang="en-US" sz="2000" b="1" i="0" u="none" strike="noStrike" cap="none" spc="0">
                <a:solidFill>
                  <a:srgbClr val="002060"/>
                </a:solidFill>
                <a:latin typeface="Helvetica-Bold"/>
                <a:ea typeface="ＭＳ Ｐゴシック"/>
                <a:cs typeface="Arial"/>
              </a:rPr>
              <a:t>of</a:t>
            </a:r>
            <a:endParaRPr sz="2000"/>
          </a:p>
          <a:p>
            <a:pPr algn="ctr">
              <a:spcBef>
                <a:spcPts val="87"/>
              </a:spcBef>
              <a:defRPr/>
            </a:pPr>
            <a:r>
              <a:rPr lang="en-US" sz="2000" b="1" i="0" u="none" strike="noStrike" cap="none" spc="0">
                <a:solidFill>
                  <a:srgbClr val="002060"/>
                </a:solidFill>
                <a:latin typeface="Helvetica-Bold"/>
                <a:ea typeface="Helvetica-Bold"/>
                <a:cs typeface="Helvetica-Bold"/>
              </a:rPr>
              <a:t>Dr. Andhe Dharani</a:t>
            </a:r>
            <a:endParaRPr sz="2000"/>
          </a:p>
          <a:p>
            <a:pPr algn="ctr">
              <a:spcBef>
                <a:spcPts val="89"/>
              </a:spcBef>
              <a:defRPr/>
            </a:pPr>
            <a:r>
              <a:rPr lang="en-US" sz="2000" b="1" i="0" u="none" strike="noStrike" cap="none" spc="0">
                <a:solidFill>
                  <a:srgbClr val="002060"/>
                </a:solidFill>
                <a:latin typeface="Helvetica-Bold"/>
                <a:ea typeface="ＭＳ Ｐゴシック"/>
                <a:cs typeface="Arial"/>
              </a:rPr>
              <a:t>Professor </a:t>
            </a:r>
            <a:endParaRPr lang="en-US" sz="2000" b="1">
              <a:solidFill>
                <a:srgbClr val="002060"/>
              </a:solidFill>
              <a:latin typeface="Helvetica-Bold"/>
              <a:ea typeface="MS PGothic"/>
              <a:cs typeface="Arial"/>
            </a:endParaRPr>
          </a:p>
          <a:p>
            <a:pPr algn="ctr">
              <a:spcBef>
                <a:spcPts val="90"/>
              </a:spcBef>
              <a:defRPr/>
            </a:pPr>
            <a:endParaRPr lang="en-US" sz="2000" b="1">
              <a:solidFill>
                <a:srgbClr val="002060"/>
              </a:solidFill>
              <a:latin typeface="Helvetica-Bold"/>
              <a:ea typeface="MS PGothic"/>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2611839" name="Rectangle 1"/>
          <p:cNvSpPr/>
          <p:nvPr/>
        </p:nvSpPr>
        <p:spPr bwMode="auto">
          <a:xfrm>
            <a:off x="1846611" y="1226954"/>
            <a:ext cx="6420057" cy="2676525"/>
          </a:xfrm>
          <a:prstGeom prst="rect">
            <a:avLst/>
          </a:prstGeom>
        </p:spPr>
        <p:txBody>
          <a:bodyPr wrap="square">
            <a:spAutoFit/>
          </a:bodyPr>
          <a:lstStyle/>
          <a:p>
            <a:pPr marL="857250" indent="-857250">
              <a:buFont typeface="Arial"/>
              <a:buChar char="•"/>
              <a:defRPr/>
            </a:pPr>
            <a:r>
              <a:rPr lang="en-US" sz="2400">
                <a:solidFill>
                  <a:srgbClr val="16355A"/>
                </a:solidFill>
              </a:rPr>
              <a:t>Introduction </a:t>
            </a:r>
            <a:endParaRPr lang="en-US" sz="2400">
              <a:solidFill>
                <a:srgbClr val="16355A"/>
              </a:solidFill>
            </a:endParaRPr>
          </a:p>
          <a:p>
            <a:pPr marL="857250" indent="-857250">
              <a:buFont typeface="Arial"/>
              <a:buChar char="•"/>
              <a:defRPr/>
            </a:pPr>
            <a:r>
              <a:rPr lang="en-US" sz="2400">
                <a:solidFill>
                  <a:srgbClr val="16355A"/>
                </a:solidFill>
              </a:rPr>
              <a:t>Problem Statement</a:t>
            </a:r>
            <a:endParaRPr lang="en-US" sz="2400">
              <a:solidFill>
                <a:srgbClr val="16355A"/>
              </a:solidFill>
            </a:endParaRPr>
          </a:p>
          <a:p>
            <a:pPr marL="857250" indent="-857250">
              <a:buFont typeface="Arial"/>
              <a:buChar char="•"/>
              <a:defRPr/>
            </a:pPr>
            <a:r>
              <a:rPr lang="en-US" sz="2400">
                <a:solidFill>
                  <a:srgbClr val="16355A"/>
                </a:solidFill>
              </a:rPr>
              <a:t>Objectives</a:t>
            </a:r>
            <a:endParaRPr lang="en-US" sz="2400">
              <a:solidFill>
                <a:srgbClr val="16355A"/>
              </a:solidFill>
            </a:endParaRPr>
          </a:p>
          <a:p>
            <a:pPr marL="857250" indent="-857250">
              <a:buFont typeface="Arial"/>
              <a:buChar char="•"/>
              <a:defRPr/>
            </a:pPr>
            <a:r>
              <a:rPr lang="en-US" sz="2400">
                <a:solidFill>
                  <a:srgbClr val="16355A"/>
                </a:solidFill>
              </a:rPr>
              <a:t>Literature Survey </a:t>
            </a:r>
            <a:endParaRPr lang="en-US" sz="2400">
              <a:solidFill>
                <a:srgbClr val="16355A"/>
              </a:solidFill>
            </a:endParaRPr>
          </a:p>
          <a:p>
            <a:pPr marL="857250" indent="-857250">
              <a:buFont typeface="Arial"/>
              <a:buChar char="•"/>
              <a:defRPr/>
            </a:pPr>
            <a:r>
              <a:rPr lang="en-US" sz="2400">
                <a:solidFill>
                  <a:srgbClr val="16355A"/>
                </a:solidFill>
              </a:rPr>
              <a:t>Proposed Methodology </a:t>
            </a:r>
            <a:endParaRPr lang="en-US" sz="2400">
              <a:solidFill>
                <a:srgbClr val="16355A"/>
              </a:solidFill>
            </a:endParaRPr>
          </a:p>
          <a:p>
            <a:pPr marL="857250" indent="-857250">
              <a:buFont typeface="Arial"/>
              <a:buChar char="•"/>
              <a:defRPr/>
            </a:pPr>
            <a:r>
              <a:rPr lang="en-US" sz="2400">
                <a:solidFill>
                  <a:srgbClr val="16355A"/>
                </a:solidFill>
              </a:rPr>
              <a:t>Hardware &amp; Software Requirements</a:t>
            </a:r>
            <a:endParaRPr lang="en-US" sz="2400">
              <a:solidFill>
                <a:srgbClr val="16355A"/>
              </a:solidFill>
            </a:endParaRPr>
          </a:p>
          <a:p>
            <a:pPr marL="857250" indent="-857250">
              <a:buFont typeface="Arial"/>
              <a:buChar char="•"/>
              <a:defRPr/>
            </a:pPr>
            <a:r>
              <a:rPr lang="en-US" sz="2400">
                <a:solidFill>
                  <a:srgbClr val="16355A"/>
                </a:solidFill>
              </a:rPr>
              <a:t>References</a:t>
            </a:r>
            <a:endParaRPr lang="en-US" sz="2400">
              <a:solidFill>
                <a:srgbClr val="16355A"/>
              </a:solidFill>
            </a:endParaRPr>
          </a:p>
        </p:txBody>
      </p:sp>
      <p:sp>
        <p:nvSpPr>
          <p:cNvPr id="2021030271" name="Title 1"/>
          <p:cNvSpPr>
            <a:spLocks noGrp="1"/>
          </p:cNvSpPr>
          <p:nvPr>
            <p:ph type="title" idx="4294967295"/>
          </p:nvPr>
        </p:nvSpPr>
        <p:spPr bwMode="auto">
          <a:xfrm>
            <a:off x="2576212" y="0"/>
            <a:ext cx="11277600" cy="1230312"/>
          </a:xfrm>
        </p:spPr>
        <p:txBody>
          <a:bodyPr>
            <a:normAutofit/>
          </a:bodyPr>
          <a:lstStyle/>
          <a:p>
            <a:pPr>
              <a:defRPr/>
            </a:pPr>
            <a:r>
              <a:rPr lang="en-US" sz="3200" b="1"/>
              <a:t>Agenda</a:t>
            </a:r>
            <a:endParaRPr lang="en-US" sz="32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1448258"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513647240" name="Title 1"/>
          <p:cNvSpPr>
            <a:spLocks noGrp="1"/>
          </p:cNvSpPr>
          <p:nvPr>
            <p:ph type="title" idx="4294967295"/>
          </p:nvPr>
        </p:nvSpPr>
        <p:spPr bwMode="auto">
          <a:xfrm>
            <a:off x="2576212" y="0"/>
            <a:ext cx="11277600" cy="1230312"/>
          </a:xfrm>
        </p:spPr>
        <p:txBody>
          <a:bodyPr>
            <a:normAutofit/>
          </a:bodyPr>
          <a:lstStyle/>
          <a:p>
            <a:pPr>
              <a:defRPr/>
            </a:pPr>
            <a:r>
              <a:rPr lang="en-US" sz="3200" b="1"/>
              <a:t>Introduction</a:t>
            </a:r>
            <a:endParaRPr lang="en-US" sz="3200" b="1"/>
          </a:p>
        </p:txBody>
      </p:sp>
      <p:sp>
        <p:nvSpPr>
          <p:cNvPr id="1225006613" name="Text Box 3"/>
          <p:cNvSpPr txBox="1"/>
          <p:nvPr/>
        </p:nvSpPr>
        <p:spPr bwMode="auto">
          <a:xfrm>
            <a:off x="539750" y="878840"/>
            <a:ext cx="7859394" cy="904875"/>
          </a:xfrm>
          <a:prstGeom prst="rect">
            <a:avLst/>
          </a:prstGeom>
        </p:spPr>
        <p:txBody>
          <a:bodyPr>
            <a:noAutofit/>
          </a:bodyPr>
          <a:p>
            <a:pPr>
              <a:defRPr/>
            </a:pPr>
            <a:r>
              <a:rPr lang="en-US" sz="1600"/>
              <a:t>In today’s era of digital and self-paced learning, students often struggle to maintain consistent focus during study sessions. This lack of attention negatively impacts learning outcomes, productivity, and long-term academic performance.</a:t>
            </a:r>
            <a:endParaRPr lang="en-US" sz="1600"/>
          </a:p>
        </p:txBody>
      </p:sp>
      <p:sp>
        <p:nvSpPr>
          <p:cNvPr id="988421336" name="Text Box 4"/>
          <p:cNvSpPr txBox="1"/>
          <p:nvPr/>
        </p:nvSpPr>
        <p:spPr bwMode="auto">
          <a:xfrm>
            <a:off x="539750" y="1698625"/>
            <a:ext cx="7860030" cy="1076325"/>
          </a:xfrm>
          <a:prstGeom prst="rect">
            <a:avLst/>
          </a:prstGeom>
        </p:spPr>
        <p:txBody>
          <a:bodyPr wrap="square">
            <a:spAutoFit/>
          </a:bodyPr>
          <a:p>
            <a:pPr>
              <a:defRPr/>
            </a:pPr>
            <a:r>
              <a:rPr lang="en-US" sz="1600"/>
              <a:t>The minor project FocusSense aims to address this challenge by using Computer Vision and Deep Learning to monitor a student’s attention level in real time. The system uses eye-gaze patterns, facial landmarks, and head pose orientation to assess how attentive the learner is at any given moment.</a:t>
            </a:r>
            <a:endParaRPr lang="en-US" sz="1600"/>
          </a:p>
        </p:txBody>
      </p:sp>
      <p:sp>
        <p:nvSpPr>
          <p:cNvPr id="464276448" name="Text Box 5"/>
          <p:cNvSpPr txBox="1"/>
          <p:nvPr/>
        </p:nvSpPr>
        <p:spPr bwMode="auto">
          <a:xfrm>
            <a:off x="541020" y="2708275"/>
            <a:ext cx="7860030" cy="1322070"/>
          </a:xfrm>
          <a:prstGeom prst="rect">
            <a:avLst/>
          </a:prstGeom>
        </p:spPr>
        <p:txBody>
          <a:bodyPr wrap="square">
            <a:spAutoFit/>
          </a:bodyPr>
          <a:p>
            <a:pPr>
              <a:defRPr/>
            </a:pPr>
            <a:r>
              <a:rPr lang="en-US" sz="1600"/>
              <a:t>Unlike traditional gaze trackers, FocusSense performs spatio-temporal analysis using a hybrid CNN–LSTM model, enabling it to detect not only immediate distraction but also behavioral patterns over time. The system provides actionable insights such as a Focus Score, distraction count, duration analysis, and real-time alerts, helping learners improve their concentration during study sessions.</a:t>
            </a:r>
            <a:endParaRPr lang="en-US" sz="1600"/>
          </a:p>
        </p:txBody>
      </p:sp>
      <p:sp>
        <p:nvSpPr>
          <p:cNvPr id="1973608182" name="Text Box 6"/>
          <p:cNvSpPr txBox="1"/>
          <p:nvPr/>
        </p:nvSpPr>
        <p:spPr bwMode="auto">
          <a:xfrm>
            <a:off x="539115" y="4030345"/>
            <a:ext cx="7860030" cy="829944"/>
          </a:xfrm>
          <a:prstGeom prst="rect">
            <a:avLst/>
          </a:prstGeom>
        </p:spPr>
        <p:txBody>
          <a:bodyPr wrap="square">
            <a:spAutoFit/>
          </a:bodyPr>
          <a:p>
            <a:pPr>
              <a:defRPr/>
            </a:pPr>
            <a:r>
              <a:rPr lang="en-US" sz="1600"/>
              <a:t>With a student-centric design, FocusSense acts as a supportive digital companion for self-improvement, enabling personalized insights into learning behavior and supporting better academic efficiency.</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9833937"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1710963303" name="Title 1"/>
          <p:cNvSpPr>
            <a:spLocks noGrp="1"/>
          </p:cNvSpPr>
          <p:nvPr>
            <p:ph type="title" idx="4294967295"/>
          </p:nvPr>
        </p:nvSpPr>
        <p:spPr bwMode="auto">
          <a:xfrm>
            <a:off x="2576212" y="0"/>
            <a:ext cx="11277600" cy="1230312"/>
          </a:xfrm>
        </p:spPr>
        <p:txBody>
          <a:bodyPr>
            <a:normAutofit/>
          </a:bodyPr>
          <a:lstStyle/>
          <a:p>
            <a:pPr>
              <a:defRPr/>
            </a:pPr>
            <a:r>
              <a:rPr lang="en-US" sz="3200" b="1"/>
              <a:t>Problem Statement</a:t>
            </a:r>
            <a:endParaRPr lang="en-US" sz="3200" b="1"/>
          </a:p>
        </p:txBody>
      </p:sp>
      <p:sp>
        <p:nvSpPr>
          <p:cNvPr id="1203601116" name="Text Box 3"/>
          <p:cNvSpPr txBox="1"/>
          <p:nvPr/>
        </p:nvSpPr>
        <p:spPr bwMode="auto">
          <a:xfrm>
            <a:off x="539750" y="878840"/>
            <a:ext cx="7859394" cy="904875"/>
          </a:xfrm>
          <a:prstGeom prst="rect">
            <a:avLst/>
          </a:prstGeom>
        </p:spPr>
        <p:txBody>
          <a:bodyPr>
            <a:noAutofit/>
          </a:bodyPr>
          <a:p>
            <a:pPr>
              <a:defRPr/>
            </a:pPr>
            <a:r>
              <a:rPr lang="en-US" sz="1600"/>
              <a:t>Students frequently lose focus during online or self-study sessions due to digital distractions, fatigue, and fluctuating attention spans. There is no accessible system that continuously monitors a student’s attentiveness based on eye movement and head pose patterns.</a:t>
            </a:r>
            <a:endParaRPr lang="en-US" sz="1600"/>
          </a:p>
        </p:txBody>
      </p:sp>
      <p:sp>
        <p:nvSpPr>
          <p:cNvPr id="1291038196" name="Text Box 4"/>
          <p:cNvSpPr txBox="1"/>
          <p:nvPr/>
        </p:nvSpPr>
        <p:spPr bwMode="auto">
          <a:xfrm>
            <a:off x="539115" y="1991995"/>
            <a:ext cx="7860030" cy="829944"/>
          </a:xfrm>
          <a:prstGeom prst="rect">
            <a:avLst/>
          </a:prstGeom>
        </p:spPr>
        <p:txBody>
          <a:bodyPr wrap="square">
            <a:spAutoFit/>
          </a:bodyPr>
          <a:p>
            <a:pPr>
              <a:defRPr/>
            </a:pPr>
            <a:r>
              <a:rPr lang="en-US" sz="1600"/>
              <a:t>Existing gaze-tracking systems only provide binary classification (focused/unfocused) and lack temporal learning, real-time feedback, meaningful analytics, or long-term tracking.</a:t>
            </a:r>
            <a:endParaRPr lang="en-US" sz="1600"/>
          </a:p>
        </p:txBody>
      </p:sp>
      <p:sp>
        <p:nvSpPr>
          <p:cNvPr id="50364752" name="Text Box 5"/>
          <p:cNvSpPr txBox="1"/>
          <p:nvPr/>
        </p:nvSpPr>
        <p:spPr bwMode="auto">
          <a:xfrm>
            <a:off x="539115" y="2945130"/>
            <a:ext cx="7860030" cy="1076325"/>
          </a:xfrm>
          <a:prstGeom prst="rect">
            <a:avLst/>
          </a:prstGeom>
        </p:spPr>
        <p:txBody>
          <a:bodyPr wrap="square">
            <a:spAutoFit/>
          </a:bodyPr>
          <a:p>
            <a:pPr>
              <a:defRPr/>
            </a:pPr>
            <a:r>
              <a:rPr lang="en-US" sz="1600"/>
              <a:t>Therefore, the problem is to develop an AI-powered system that can accurately measure and analyze a student’s focus level in real time using eye-gaze and head pose detection, generate behavioral insights, and assist students in improving concentration and productivity.</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786178"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1217355934" name="Title 1"/>
          <p:cNvSpPr>
            <a:spLocks noGrp="1"/>
          </p:cNvSpPr>
          <p:nvPr>
            <p:ph type="title" idx="4294967295"/>
          </p:nvPr>
        </p:nvSpPr>
        <p:spPr bwMode="auto">
          <a:xfrm>
            <a:off x="2576212" y="0"/>
            <a:ext cx="11277600" cy="1230312"/>
          </a:xfrm>
        </p:spPr>
        <p:txBody>
          <a:bodyPr>
            <a:normAutofit/>
          </a:bodyPr>
          <a:lstStyle/>
          <a:p>
            <a:pPr>
              <a:defRPr/>
            </a:pPr>
            <a:r>
              <a:rPr lang="en-US" sz="3200" b="1"/>
              <a:t>Objectives </a:t>
            </a:r>
            <a:endParaRPr lang="en-US" sz="3200" b="1"/>
          </a:p>
        </p:txBody>
      </p:sp>
      <p:sp>
        <p:nvSpPr>
          <p:cNvPr id="1912474309" name="Text Box 3"/>
          <p:cNvSpPr txBox="1"/>
          <p:nvPr/>
        </p:nvSpPr>
        <p:spPr bwMode="auto">
          <a:xfrm>
            <a:off x="539750" y="878840"/>
            <a:ext cx="7859394" cy="1803400"/>
          </a:xfrm>
          <a:prstGeom prst="rect">
            <a:avLst/>
          </a:prstGeom>
        </p:spPr>
        <p:txBody>
          <a:bodyPr>
            <a:noAutofit/>
          </a:bodyPr>
          <a:p>
            <a:pPr>
              <a:defRPr/>
            </a:pPr>
            <a:r>
              <a:rPr lang="en-US" sz="1600" b="1">
                <a:latin typeface="Arial"/>
                <a:cs typeface="Arial"/>
              </a:rPr>
              <a:t>Primary Objectives</a:t>
            </a:r>
            <a:endParaRPr lang="en-US" sz="1600" b="1">
              <a:latin typeface="Arial"/>
              <a:cs typeface="Arial"/>
            </a:endParaRPr>
          </a:p>
          <a:p>
            <a:pPr>
              <a:defRPr/>
            </a:pPr>
            <a:r>
              <a:rPr lang="en-US" sz="1600"/>
              <a:t>To design a real-time AI system that detects and analyzes a student’s eye-gaze     direction, head pose, and facial orientation during study sessions.</a:t>
            </a:r>
            <a:endParaRPr lang="en-US" sz="1600"/>
          </a:p>
          <a:p>
            <a:pPr>
              <a:defRPr/>
            </a:pPr>
            <a:r>
              <a:rPr lang="en-US" sz="1600"/>
              <a:t>To compute a continuous Focus Score (0–100%) based on gaze stability, head movement, and attention duration.</a:t>
            </a:r>
            <a:endParaRPr lang="en-US" sz="1600"/>
          </a:p>
          <a:p>
            <a:pPr>
              <a:defRPr/>
            </a:pPr>
            <a:r>
              <a:rPr lang="en-US" sz="1600"/>
              <a:t>To perform temporal behavioral analysis using a CNN-LSTM architecture to study patterns of focus over time.</a:t>
            </a:r>
            <a:endParaRPr lang="en-US" sz="1600"/>
          </a:p>
        </p:txBody>
      </p:sp>
      <p:sp>
        <p:nvSpPr>
          <p:cNvPr id="2072408699" name="Text Box 4"/>
          <p:cNvSpPr txBox="1"/>
          <p:nvPr/>
        </p:nvSpPr>
        <p:spPr bwMode="auto">
          <a:xfrm>
            <a:off x="539115" y="2682240"/>
            <a:ext cx="7860030" cy="1664970"/>
          </a:xfrm>
          <a:prstGeom prst="rect">
            <a:avLst/>
          </a:prstGeom>
        </p:spPr>
        <p:txBody>
          <a:bodyPr wrap="square">
            <a:noAutofit/>
          </a:bodyPr>
          <a:p>
            <a:pPr>
              <a:defRPr/>
            </a:pPr>
            <a:r>
              <a:rPr lang="en-US" sz="1600" b="1">
                <a:latin typeface="Arial"/>
                <a:cs typeface="Arial"/>
              </a:rPr>
              <a:t>Secondary Objectives</a:t>
            </a:r>
            <a:endParaRPr lang="en-US" sz="1600" b="1">
              <a:latin typeface="Arial"/>
              <a:cs typeface="Arial"/>
            </a:endParaRPr>
          </a:p>
          <a:p>
            <a:pPr>
              <a:defRPr/>
            </a:pPr>
            <a:r>
              <a:rPr lang="en-US" sz="1600">
                <a:latin typeface="Arial"/>
                <a:cs typeface="Arial"/>
              </a:rPr>
              <a:t>To provide real-time feedback and alerts when the student’s focus drops.</a:t>
            </a:r>
            <a:endParaRPr lang="en-US" sz="1600">
              <a:latin typeface="Arial"/>
              <a:cs typeface="Arial"/>
            </a:endParaRPr>
          </a:p>
          <a:p>
            <a:pPr>
              <a:defRPr/>
            </a:pPr>
            <a:r>
              <a:rPr lang="en-US" sz="1600">
                <a:latin typeface="Arial"/>
                <a:cs typeface="Arial"/>
              </a:rPr>
              <a:t>To visualize study performance through a Flask-based dashboard that includes graphs, charts, and historical analytics.</a:t>
            </a:r>
            <a:endParaRPr lang="en-US" sz="1600">
              <a:latin typeface="Arial"/>
              <a:cs typeface="Arial"/>
            </a:endParaRPr>
          </a:p>
          <a:p>
            <a:pPr>
              <a:defRPr/>
            </a:pPr>
            <a:r>
              <a:rPr lang="en-US" sz="1600">
                <a:latin typeface="Arial"/>
                <a:cs typeface="Arial"/>
              </a:rPr>
              <a:t>To enhance self-awareness by offering daily/weekly focus trends for progress monitoring.</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3119763" name="Rectangle 1"/>
          <p:cNvSpPr/>
          <p:nvPr/>
        </p:nvSpPr>
        <p:spPr bwMode="auto">
          <a:xfrm>
            <a:off x="511810" y="967740"/>
            <a:ext cx="8014335" cy="3074035"/>
          </a:xfrm>
          <a:prstGeom prst="rect">
            <a:avLst/>
          </a:prstGeom>
        </p:spPr>
        <p:txBody>
          <a:bodyPr wrap="square">
            <a:noAutofit/>
          </a:bodyPr>
          <a:lstStyle/>
          <a:p>
            <a:pPr>
              <a:defRPr/>
            </a:pPr>
            <a:r>
              <a:rPr lang="en-IN" sz="2000" spc="-2">
                <a:latin typeface="Times New Roman"/>
                <a:ea typeface="DejaVu Sans"/>
              </a:rPr>
              <a:t> </a:t>
            </a:r>
            <a:endParaRPr lang="en-IN" sz="2000" spc="-2"/>
          </a:p>
          <a:p>
            <a:pPr>
              <a:defRPr/>
            </a:pPr>
            <a:endParaRPr lang="en-IN" sz="2400" spc="-2"/>
          </a:p>
          <a:p>
            <a:pPr>
              <a:defRPr/>
            </a:pPr>
            <a:r>
              <a:rPr lang="en-IN" sz="4400" spc="-2">
                <a:ea typeface="DejaVu Sans"/>
              </a:rPr>
              <a:t> </a:t>
            </a:r>
            <a:endParaRPr lang="en-IN" sz="4400" spc="-2"/>
          </a:p>
          <a:p>
            <a:pPr>
              <a:defRPr/>
            </a:pPr>
            <a:endParaRPr lang="en-IN" sz="4400" spc="-2"/>
          </a:p>
          <a:p>
            <a:pPr>
              <a:defRPr/>
            </a:pPr>
            <a:endParaRPr lang="en-IN" sz="4400" spc="-2"/>
          </a:p>
          <a:p>
            <a:pPr>
              <a:defRPr/>
            </a:pPr>
            <a:endParaRPr lang="en-IN" sz="4400" spc="-2"/>
          </a:p>
        </p:txBody>
      </p:sp>
      <p:sp>
        <p:nvSpPr>
          <p:cNvPr id="1457116032" name="Title 1"/>
          <p:cNvSpPr>
            <a:spLocks noGrp="1"/>
          </p:cNvSpPr>
          <p:nvPr>
            <p:ph type="title" idx="4294967295"/>
          </p:nvPr>
        </p:nvSpPr>
        <p:spPr bwMode="auto">
          <a:xfrm>
            <a:off x="2576212" y="0"/>
            <a:ext cx="11277600" cy="1230312"/>
          </a:xfrm>
        </p:spPr>
        <p:txBody>
          <a:bodyPr>
            <a:normAutofit/>
          </a:bodyPr>
          <a:lstStyle/>
          <a:p>
            <a:pPr defTabSz="914400">
              <a:defRPr/>
            </a:pPr>
            <a:r>
              <a:rPr lang="en-IN" sz="3200" b="1">
                <a:solidFill>
                  <a:schemeClr val="tx1"/>
                </a:solidFill>
                <a:cs typeface="MS PGothic"/>
              </a:rPr>
              <a:t>Literature Survey</a:t>
            </a:r>
            <a:endParaRPr lang="en-IN" sz="3200" b="1">
              <a:solidFill>
                <a:schemeClr val="tx1"/>
              </a:solidFill>
              <a:cs typeface="MS PGothic"/>
            </a:endParaRPr>
          </a:p>
        </p:txBody>
      </p:sp>
      <p:graphicFrame>
        <p:nvGraphicFramePr>
          <p:cNvPr id="1834769399" name="Table 3"/>
          <p:cNvGraphicFramePr>
            <a:graphicFrameLocks xmlns:a="http://schemas.openxmlformats.org/drawingml/2006/main" noGrp="1"/>
          </p:cNvGraphicFramePr>
          <p:nvPr/>
        </p:nvGraphicFramePr>
        <p:xfrm rot="0">
          <a:off x="511810" y="967740"/>
          <a:ext cx="8014335" cy="2438400"/>
        </p:xfrm>
        <a:graphic>
          <a:graphicData uri="http://schemas.openxmlformats.org/drawingml/2006/table">
            <a:tbl>
              <a:tblPr firstRow="1" firstCol="0" lastRow="0" lastCol="0" bandRow="1" bandCol="0">
                <a:tableStyleId>{5C22544A-7EE6-4342-B048-85BDC9FD1C3A}</a:tableStyleId>
              </a:tblPr>
              <a:tblGrid>
                <a:gridCol w="908685"/>
                <a:gridCol w="3098800"/>
                <a:gridCol w="2003425"/>
                <a:gridCol w="2003425"/>
              </a:tblGrid>
              <a:tr h="518160">
                <a:tc>
                  <a:txBody>
                    <a:bodyPr/>
                    <a:p>
                      <a:pPr>
                        <a:defRPr/>
                      </a:pPr>
                      <a:r>
                        <a:rPr lang="en-US"/>
                        <a:t>SL No</a:t>
                      </a:r>
                      <a:endParaRPr lang="en-US"/>
                    </a:p>
                  </a:txBody>
                  <a:tcPr/>
                </a:tc>
                <a:tc>
                  <a:txBody>
                    <a:bodyPr/>
                    <a:p>
                      <a:pPr>
                        <a:defRPr/>
                      </a:pPr>
                      <a:r>
                        <a:rPr lang="en-US"/>
                        <a:t>Authors&amp; Paper title</a:t>
                      </a:r>
                      <a:endParaRPr lang="en-US"/>
                    </a:p>
                  </a:txBody>
                  <a:tcPr/>
                </a:tc>
                <a:tc>
                  <a:txBody>
                    <a:bodyPr/>
                    <a:p>
                      <a:pPr>
                        <a:defRPr/>
                      </a:pPr>
                      <a:r>
                        <a:rPr lang="en-US"/>
                        <a:t>Details of Publication</a:t>
                      </a:r>
                      <a:endParaRPr lang="en-US"/>
                    </a:p>
                  </a:txBody>
                  <a:tcPr/>
                </a:tc>
                <a:tc>
                  <a:txBody>
                    <a:bodyPr/>
                    <a:p>
                      <a:pPr>
                        <a:defRPr/>
                      </a:pPr>
                      <a:r>
                        <a:rPr lang="en-US"/>
                        <a:t>Summary of the paper</a:t>
                      </a:r>
                      <a:endParaRPr lang="en-US"/>
                    </a:p>
                  </a:txBody>
                  <a:tcPr/>
                </a:tc>
              </a:tr>
              <a:tr h="1920240">
                <a:tc>
                  <a:txBody>
                    <a:bodyPr/>
                    <a:p>
                      <a:pPr>
                        <a:defRPr/>
                      </a:pPr>
                      <a:r>
                        <a:rPr lang="en-US"/>
                        <a:t>1</a:t>
                      </a:r>
                      <a:endParaRPr lang="en-US"/>
                    </a:p>
                    <a:p>
                      <a:pPr>
                        <a:defRPr/>
                      </a:pPr>
                      <a:endParaRPr lang="en-US"/>
                    </a:p>
                    <a:p>
                      <a:pPr>
                        <a:defRPr/>
                      </a:pPr>
                      <a:endParaRPr lang="en-US"/>
                    </a:p>
                    <a:p>
                      <a:pPr>
                        <a:defRPr/>
                      </a:pPr>
                      <a:endParaRPr lang="en-US"/>
                    </a:p>
                    <a:p>
                      <a:pPr>
                        <a:defRPr/>
                      </a:pPr>
                      <a:endParaRPr lang="en-US"/>
                    </a:p>
                    <a:p>
                      <a:pPr>
                        <a:defRPr/>
                      </a:pPr>
                      <a:endParaRPr lang="en-US"/>
                    </a:p>
                    <a:p>
                      <a:pPr>
                        <a:defRPr/>
                      </a:pPr>
                      <a:r>
                        <a:rPr lang="en-US"/>
                        <a:t>2</a:t>
                      </a:r>
                      <a:endParaRPr lang="en-US"/>
                    </a:p>
                  </a:txBody>
                  <a:tcPr/>
                </a:tc>
                <a:tc>
                  <a:txBody>
                    <a:bodyPr/>
                    <a:p>
                      <a:pPr>
                        <a:defRPr/>
                      </a:pPr>
                      <a:r>
                        <a:rPr lang="en-US" sz="1000"/>
                        <a:t>Recasens, C. Vondrick, A. Torralba — “DeepGaze II: Reading Human Gaze from Images Using Deep Neural Networks”</a:t>
                      </a:r>
                      <a:endParaRPr lang="en-US" sz="1000"/>
                    </a:p>
                    <a:p>
                      <a:pPr>
                        <a:defRPr/>
                      </a:pPr>
                      <a:endParaRPr lang="en-US" sz="1000"/>
                    </a:p>
                    <a:p>
                      <a:pPr>
                        <a:defRPr/>
                      </a:pP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F. Zhang, V. Bazarevsky, et al. — “MediaPipe Face Mesh: Real-time High-Fidelity Facial Landmark Tracking”</a:t>
                      </a:r>
                      <a:endParaRPr lang="en-US" sz="1000"/>
                    </a:p>
                  </a:txBody>
                  <a:tcPr/>
                </a:tc>
                <a:tc>
                  <a:txBody>
                    <a:bodyPr/>
                    <a:p>
                      <a:pPr>
                        <a:defRPr/>
                      </a:pPr>
                      <a:r>
                        <a:rPr lang="en-US" sz="1000"/>
                        <a:t>IEEE Transactions on Pattern Analysis and Machine Intelligence (TPAMI),</a:t>
                      </a:r>
                      <a:endParaRPr lang="en-US" sz="1000"/>
                    </a:p>
                    <a:p>
                      <a:pPr>
                        <a:defRPr/>
                      </a:pPr>
                      <a:r>
                        <a:rPr lang="en-US" sz="1000"/>
                        <a:t>Vol. 41, Issue 6, pp. 1234–1247, June 2019.</a:t>
                      </a: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ACM SIGGRAPH Conference Proceedings,</a:t>
                      </a:r>
                      <a:endParaRPr lang="en-US" sz="1000"/>
                    </a:p>
                    <a:p>
                      <a:pPr>
                        <a:defRPr/>
                      </a:pPr>
                      <a:r>
                        <a:rPr lang="en-US" sz="1000"/>
                        <a:t>Vol. 39, Issue 4, pp. 1–12, July 2020.</a:t>
                      </a:r>
                      <a:endParaRPr lang="en-US" sz="1000"/>
                    </a:p>
                  </a:txBody>
                  <a:tcPr/>
                </a:tc>
                <a:tc>
                  <a:txBody>
                    <a:bodyPr/>
                    <a:p>
                      <a:pPr>
                        <a:defRPr/>
                      </a:pPr>
                      <a:r>
                        <a:rPr lang="en-US" sz="800"/>
                        <a:t>This paper introduces DeepGaze II, a CNN-based architecture for predicting human eye-gaze patterns from images. It achieves high accuracy in saliency and gaze estimation tasks. The method lays the foundation for modern gaze-tracking systems by using deep feature maps and is relevant for real-time focus detection.</a:t>
                      </a:r>
                      <a:endParaRPr lang="en-US" sz="800"/>
                    </a:p>
                    <a:p>
                      <a:pPr>
                        <a:defRPr/>
                      </a:pPr>
                      <a:endParaRPr lang="en-US" sz="1000"/>
                    </a:p>
                    <a:p>
                      <a:pPr>
                        <a:defRPr/>
                      </a:pPr>
                      <a:endParaRPr lang="en-US" sz="1000"/>
                    </a:p>
                    <a:p>
                      <a:pPr>
                        <a:defRPr/>
                      </a:pPr>
                      <a:r>
                        <a:rPr lang="en-US" sz="800"/>
                        <a:t>MediaPipe Face Mesh presents a lightweight neural network model capable of extracting 468 facial landmarks in real time. It enables precise eye, lip, and head-movement tracking on low-end devices. FocusSense uses similar landmark extraction techniques for attention monitoring.</a:t>
                      </a:r>
                      <a:endParaRPr lang="en-US" sz="8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0649627" name="Rectangle 1"/>
          <p:cNvSpPr/>
          <p:nvPr/>
        </p:nvSpPr>
        <p:spPr bwMode="auto">
          <a:xfrm>
            <a:off x="511810" y="967740"/>
            <a:ext cx="8014335" cy="3074035"/>
          </a:xfrm>
          <a:prstGeom prst="rect">
            <a:avLst/>
          </a:prstGeom>
        </p:spPr>
        <p:txBody>
          <a:bodyPr wrap="square">
            <a:noAutofit/>
          </a:bodyPr>
          <a:lstStyle/>
          <a:p>
            <a:pPr>
              <a:defRPr/>
            </a:pPr>
            <a:r>
              <a:rPr lang="en-IN" sz="2000" spc="-2">
                <a:latin typeface="Times New Roman"/>
                <a:ea typeface="DejaVu Sans"/>
              </a:rPr>
              <a:t> </a:t>
            </a:r>
            <a:endParaRPr lang="en-IN" sz="2000" spc="-2"/>
          </a:p>
          <a:p>
            <a:pPr>
              <a:defRPr/>
            </a:pPr>
            <a:endParaRPr lang="en-IN" sz="2400" spc="-2"/>
          </a:p>
          <a:p>
            <a:pPr>
              <a:defRPr/>
            </a:pPr>
            <a:r>
              <a:rPr lang="en-IN" sz="4400" spc="-2">
                <a:ea typeface="DejaVu Sans"/>
              </a:rPr>
              <a:t> </a:t>
            </a:r>
            <a:endParaRPr lang="en-IN" sz="4400" spc="-2"/>
          </a:p>
          <a:p>
            <a:pPr>
              <a:defRPr/>
            </a:pPr>
            <a:endParaRPr lang="en-IN" sz="4400" spc="-2"/>
          </a:p>
          <a:p>
            <a:pPr>
              <a:defRPr/>
            </a:pPr>
            <a:endParaRPr lang="en-IN" sz="4400" spc="-2"/>
          </a:p>
          <a:p>
            <a:pPr>
              <a:defRPr/>
            </a:pPr>
            <a:endParaRPr lang="en-IN" sz="4400" spc="-2"/>
          </a:p>
        </p:txBody>
      </p:sp>
      <p:sp>
        <p:nvSpPr>
          <p:cNvPr id="684314334" name="Title 1"/>
          <p:cNvSpPr>
            <a:spLocks noGrp="1"/>
          </p:cNvSpPr>
          <p:nvPr>
            <p:ph type="title" idx="4294967295"/>
          </p:nvPr>
        </p:nvSpPr>
        <p:spPr bwMode="auto">
          <a:xfrm>
            <a:off x="2576212" y="0"/>
            <a:ext cx="11277600" cy="1230312"/>
          </a:xfrm>
        </p:spPr>
        <p:txBody>
          <a:bodyPr>
            <a:normAutofit/>
          </a:bodyPr>
          <a:lstStyle/>
          <a:p>
            <a:pPr defTabSz="914400">
              <a:defRPr/>
            </a:pPr>
            <a:r>
              <a:rPr lang="en-IN" sz="3200" b="1">
                <a:solidFill>
                  <a:schemeClr val="tx1"/>
                </a:solidFill>
                <a:cs typeface="MS PGothic"/>
              </a:rPr>
              <a:t>Literature Survey</a:t>
            </a:r>
            <a:endParaRPr lang="en-IN" sz="3200" b="1">
              <a:solidFill>
                <a:schemeClr val="tx1"/>
              </a:solidFill>
              <a:cs typeface="MS PGothic"/>
            </a:endParaRPr>
          </a:p>
        </p:txBody>
      </p:sp>
      <p:graphicFrame>
        <p:nvGraphicFramePr>
          <p:cNvPr id="939781773" name="Table 3"/>
          <p:cNvGraphicFramePr>
            <a:graphicFrameLocks xmlns:a="http://schemas.openxmlformats.org/drawingml/2006/main" noGrp="1"/>
          </p:cNvGraphicFramePr>
          <p:nvPr/>
        </p:nvGraphicFramePr>
        <p:xfrm rot="0">
          <a:off x="511810" y="967740"/>
          <a:ext cx="8014335" cy="2438400"/>
        </p:xfrm>
        <a:graphic>
          <a:graphicData uri="http://schemas.openxmlformats.org/drawingml/2006/table">
            <a:tbl>
              <a:tblPr firstRow="1" firstCol="0" lastRow="0" lastCol="0" bandRow="1" bandCol="0">
                <a:tableStyleId>{5C22544A-7EE6-4342-B048-85BDC9FD1C3A}</a:tableStyleId>
              </a:tblPr>
              <a:tblGrid>
                <a:gridCol w="908685"/>
                <a:gridCol w="3098800"/>
                <a:gridCol w="2003425"/>
                <a:gridCol w="2003425"/>
              </a:tblGrid>
              <a:tr h="518160">
                <a:tc>
                  <a:txBody>
                    <a:bodyPr/>
                    <a:p>
                      <a:pPr>
                        <a:defRPr/>
                      </a:pPr>
                      <a:r>
                        <a:rPr lang="en-US"/>
                        <a:t>SL No</a:t>
                      </a:r>
                      <a:endParaRPr lang="en-US"/>
                    </a:p>
                  </a:txBody>
                  <a:tcPr/>
                </a:tc>
                <a:tc>
                  <a:txBody>
                    <a:bodyPr/>
                    <a:p>
                      <a:pPr>
                        <a:defRPr/>
                      </a:pPr>
                      <a:r>
                        <a:rPr lang="en-US"/>
                        <a:t>Authors&amp; Paper title</a:t>
                      </a:r>
                      <a:endParaRPr lang="en-US"/>
                    </a:p>
                  </a:txBody>
                  <a:tcPr/>
                </a:tc>
                <a:tc>
                  <a:txBody>
                    <a:bodyPr/>
                    <a:p>
                      <a:pPr>
                        <a:defRPr/>
                      </a:pPr>
                      <a:r>
                        <a:rPr lang="en-US"/>
                        <a:t>Details of Publication</a:t>
                      </a:r>
                      <a:endParaRPr lang="en-US"/>
                    </a:p>
                  </a:txBody>
                  <a:tcPr/>
                </a:tc>
                <a:tc>
                  <a:txBody>
                    <a:bodyPr/>
                    <a:p>
                      <a:pPr>
                        <a:defRPr/>
                      </a:pPr>
                      <a:r>
                        <a:rPr lang="en-US"/>
                        <a:t>Summary of the paper</a:t>
                      </a:r>
                      <a:endParaRPr lang="en-US"/>
                    </a:p>
                  </a:txBody>
                  <a:tcPr/>
                </a:tc>
              </a:tr>
              <a:tr h="1920240">
                <a:tc>
                  <a:txBody>
                    <a:bodyPr/>
                    <a:p>
                      <a:pPr>
                        <a:defRPr/>
                      </a:pPr>
                      <a:r>
                        <a:rPr lang="en-US"/>
                        <a:t>3</a:t>
                      </a:r>
                      <a:endParaRPr lang="en-US"/>
                    </a:p>
                    <a:p>
                      <a:pPr>
                        <a:defRPr/>
                      </a:pPr>
                      <a:endParaRPr lang="en-US"/>
                    </a:p>
                    <a:p>
                      <a:pPr>
                        <a:defRPr/>
                      </a:pPr>
                      <a:endParaRPr lang="en-US"/>
                    </a:p>
                    <a:p>
                      <a:pPr>
                        <a:defRPr/>
                      </a:pPr>
                      <a:endParaRPr lang="en-US"/>
                    </a:p>
                    <a:p>
                      <a:pPr>
                        <a:defRPr/>
                      </a:pPr>
                      <a:endParaRPr lang="en-US"/>
                    </a:p>
                    <a:p>
                      <a:pPr>
                        <a:defRPr/>
                      </a:pPr>
                      <a:r>
                        <a:rPr lang="en-US"/>
                        <a:t>4</a:t>
                      </a:r>
                      <a:endParaRPr lang="en-US"/>
                    </a:p>
                  </a:txBody>
                  <a:tcPr/>
                </a:tc>
                <a:tc>
                  <a:txBody>
                    <a:bodyPr/>
                    <a:p>
                      <a:pPr>
                        <a:defRPr/>
                      </a:pPr>
                      <a:r>
                        <a:rPr lang="en-US" sz="1000"/>
                        <a:t>R. Ruiz, et al. — “Fine-Grained Head Pose Estimation Without Keypoints”</a:t>
                      </a:r>
                      <a:endParaRPr lang="en-US" sz="1000"/>
                    </a:p>
                    <a:p>
                      <a:pPr>
                        <a:defRPr/>
                      </a:pP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B. Chen, Y. Zhao, et al. — “Student Engagement Detection Using Gaze and Facial Behavior in E-Learning Environments”</a:t>
                      </a:r>
                      <a:endParaRPr lang="en-US" sz="1000"/>
                    </a:p>
                  </a:txBody>
                  <a:tcPr/>
                </a:tc>
                <a:tc>
                  <a:txBody>
                    <a:bodyPr/>
                    <a:p>
                      <a:pPr>
                        <a:defRPr/>
                      </a:pPr>
                      <a:r>
                        <a:rPr lang="en-US" sz="1000"/>
                        <a:t>IEEE Conference on Computer Vision and Pattern Recognition (CVPR),</a:t>
                      </a:r>
                      <a:endParaRPr lang="en-US" sz="1000"/>
                    </a:p>
                    <a:p>
                      <a:pPr>
                        <a:defRPr/>
                      </a:pPr>
                      <a:r>
                        <a:rPr lang="en-US" sz="1000"/>
                        <a:t>pp. 10289–10298, Vol. 4, June 2018.</a:t>
                      </a:r>
                      <a:endParaRPr lang="en-US" sz="1000"/>
                    </a:p>
                    <a:p>
                      <a:pPr>
                        <a:defRPr/>
                      </a:pPr>
                      <a:endParaRPr lang="en-US" sz="1000"/>
                    </a:p>
                    <a:p>
                      <a:pPr>
                        <a:defRPr/>
                      </a:pPr>
                      <a:endParaRPr lang="en-US" sz="1000"/>
                    </a:p>
                    <a:p>
                      <a:pPr>
                        <a:defRPr/>
                      </a:pPr>
                      <a:r>
                        <a:rPr lang="en-US" sz="1000"/>
                        <a:t>IEEE Access Journal,</a:t>
                      </a:r>
                      <a:endParaRPr lang="en-US" sz="1000"/>
                    </a:p>
                    <a:p>
                      <a:pPr>
                        <a:defRPr/>
                      </a:pPr>
                      <a:r>
                        <a:rPr lang="en-US" sz="1000"/>
                        <a:t>Vol. 8, Issue 12, pp. 217003–217015, December 2020.</a:t>
                      </a:r>
                      <a:endParaRPr lang="en-US" sz="1000"/>
                    </a:p>
                  </a:txBody>
                  <a:tcPr/>
                </a:tc>
                <a:tc>
                  <a:txBody>
                    <a:bodyPr/>
                    <a:p>
                      <a:pPr>
                        <a:defRPr/>
                      </a:pPr>
                      <a:r>
                        <a:rPr lang="en-US" sz="800"/>
                        <a:t>The paper proposes a CNN model for estimating head pose directly from images without requiring facial keypoints. The approach improves robustness under occlusion and lighting variations. This is relevant to FocusSense because head orientation is a key indicator of student distraction.</a:t>
                      </a:r>
                      <a:endParaRPr lang="en-US" sz="800"/>
                    </a:p>
                    <a:p>
                      <a:pPr>
                        <a:defRPr/>
                      </a:pPr>
                      <a:endParaRPr lang="en-US" sz="1000"/>
                    </a:p>
                    <a:p>
                      <a:pPr>
                        <a:defRPr/>
                      </a:pPr>
                      <a:r>
                        <a:rPr lang="en-US" sz="800"/>
                        <a:t>This paper uses eye-gaze direction, blinking rate, and facial expression analysis to measure student engagement during online learning. The model detects inattentive behavior and helps quantify attention levels. The approach directly supports the academic motivation behind FocusSense.</a:t>
                      </a:r>
                      <a:endParaRPr lang="en-US" sz="8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3553923" name="Rectangle 1"/>
          <p:cNvSpPr/>
          <p:nvPr/>
        </p:nvSpPr>
        <p:spPr bwMode="auto">
          <a:xfrm>
            <a:off x="511810" y="967740"/>
            <a:ext cx="8014335" cy="3074035"/>
          </a:xfrm>
          <a:prstGeom prst="rect">
            <a:avLst/>
          </a:prstGeom>
        </p:spPr>
        <p:txBody>
          <a:bodyPr wrap="square">
            <a:noAutofit/>
          </a:bodyPr>
          <a:lstStyle/>
          <a:p>
            <a:pPr>
              <a:defRPr/>
            </a:pPr>
            <a:r>
              <a:rPr lang="en-IN" sz="2000" spc="-2">
                <a:latin typeface="Times New Roman"/>
                <a:ea typeface="DejaVu Sans"/>
              </a:rPr>
              <a:t> </a:t>
            </a:r>
            <a:endParaRPr lang="en-IN" sz="2000" spc="-2"/>
          </a:p>
          <a:p>
            <a:pPr>
              <a:defRPr/>
            </a:pPr>
            <a:endParaRPr lang="en-IN" sz="2400" spc="-2"/>
          </a:p>
          <a:p>
            <a:pPr>
              <a:defRPr/>
            </a:pPr>
            <a:r>
              <a:rPr lang="en-IN" sz="4400" spc="-2">
                <a:ea typeface="DejaVu Sans"/>
              </a:rPr>
              <a:t> </a:t>
            </a:r>
            <a:endParaRPr lang="en-IN" sz="4400" spc="-2"/>
          </a:p>
          <a:p>
            <a:pPr>
              <a:defRPr/>
            </a:pPr>
            <a:endParaRPr lang="en-IN" sz="4400" spc="-2"/>
          </a:p>
          <a:p>
            <a:pPr>
              <a:defRPr/>
            </a:pPr>
            <a:endParaRPr lang="en-IN" sz="4400" spc="-2"/>
          </a:p>
          <a:p>
            <a:pPr>
              <a:defRPr/>
            </a:pPr>
            <a:endParaRPr lang="en-IN" sz="4400" spc="-2"/>
          </a:p>
        </p:txBody>
      </p:sp>
      <p:sp>
        <p:nvSpPr>
          <p:cNvPr id="1664934626" name="Title 1"/>
          <p:cNvSpPr>
            <a:spLocks noGrp="1"/>
          </p:cNvSpPr>
          <p:nvPr>
            <p:ph type="title" idx="4294967295"/>
          </p:nvPr>
        </p:nvSpPr>
        <p:spPr bwMode="auto">
          <a:xfrm>
            <a:off x="2576212" y="0"/>
            <a:ext cx="11277600" cy="1230312"/>
          </a:xfrm>
        </p:spPr>
        <p:txBody>
          <a:bodyPr>
            <a:normAutofit/>
          </a:bodyPr>
          <a:lstStyle/>
          <a:p>
            <a:pPr defTabSz="914400">
              <a:defRPr/>
            </a:pPr>
            <a:r>
              <a:rPr lang="en-IN" sz="3200" b="1">
                <a:solidFill>
                  <a:schemeClr val="tx1"/>
                </a:solidFill>
                <a:cs typeface="MS PGothic"/>
              </a:rPr>
              <a:t>Literature Survey</a:t>
            </a:r>
            <a:endParaRPr lang="en-IN" sz="3200" b="1">
              <a:solidFill>
                <a:schemeClr val="tx1"/>
              </a:solidFill>
              <a:cs typeface="MS PGothic"/>
            </a:endParaRPr>
          </a:p>
        </p:txBody>
      </p:sp>
      <p:graphicFrame>
        <p:nvGraphicFramePr>
          <p:cNvPr id="717041846" name="Table 3"/>
          <p:cNvGraphicFramePr>
            <a:graphicFrameLocks xmlns:a="http://schemas.openxmlformats.org/drawingml/2006/main" noGrp="1"/>
          </p:cNvGraphicFramePr>
          <p:nvPr/>
        </p:nvGraphicFramePr>
        <p:xfrm rot="0">
          <a:off x="511810" y="967740"/>
          <a:ext cx="8014335" cy="2438400"/>
        </p:xfrm>
        <a:graphic>
          <a:graphicData uri="http://schemas.openxmlformats.org/drawingml/2006/table">
            <a:tbl>
              <a:tblPr firstRow="1" firstCol="0" lastRow="0" lastCol="0" bandRow="1" bandCol="0">
                <a:tableStyleId>{5C22544A-7EE6-4342-B048-85BDC9FD1C3A}</a:tableStyleId>
              </a:tblPr>
              <a:tblGrid>
                <a:gridCol w="908685"/>
                <a:gridCol w="3098800"/>
                <a:gridCol w="2003425"/>
                <a:gridCol w="2003425"/>
              </a:tblGrid>
              <a:tr h="518160">
                <a:tc>
                  <a:txBody>
                    <a:bodyPr/>
                    <a:p>
                      <a:pPr>
                        <a:defRPr/>
                      </a:pPr>
                      <a:r>
                        <a:rPr lang="en-US"/>
                        <a:t>SL No</a:t>
                      </a:r>
                      <a:endParaRPr lang="en-US"/>
                    </a:p>
                  </a:txBody>
                  <a:tcPr/>
                </a:tc>
                <a:tc>
                  <a:txBody>
                    <a:bodyPr/>
                    <a:p>
                      <a:pPr>
                        <a:defRPr/>
                      </a:pPr>
                      <a:r>
                        <a:rPr lang="en-US"/>
                        <a:t>Authors&amp; Paper title</a:t>
                      </a:r>
                      <a:endParaRPr lang="en-US"/>
                    </a:p>
                  </a:txBody>
                  <a:tcPr/>
                </a:tc>
                <a:tc>
                  <a:txBody>
                    <a:bodyPr/>
                    <a:p>
                      <a:pPr>
                        <a:defRPr/>
                      </a:pPr>
                      <a:r>
                        <a:rPr lang="en-US"/>
                        <a:t>Details of Publication</a:t>
                      </a:r>
                      <a:endParaRPr lang="en-US"/>
                    </a:p>
                  </a:txBody>
                  <a:tcPr/>
                </a:tc>
                <a:tc>
                  <a:txBody>
                    <a:bodyPr/>
                    <a:p>
                      <a:pPr>
                        <a:defRPr/>
                      </a:pPr>
                      <a:r>
                        <a:rPr lang="en-US"/>
                        <a:t>Summary of the paper</a:t>
                      </a:r>
                      <a:endParaRPr lang="en-US"/>
                    </a:p>
                  </a:txBody>
                  <a:tcPr/>
                </a:tc>
              </a:tr>
              <a:tr h="1920240">
                <a:tc>
                  <a:txBody>
                    <a:bodyPr/>
                    <a:p>
                      <a:pPr>
                        <a:defRPr/>
                      </a:pPr>
                      <a:r>
                        <a:rPr lang="en-US"/>
                        <a:t>5</a:t>
                      </a:r>
                      <a:endParaRPr lang="en-US"/>
                    </a:p>
                    <a:p>
                      <a:pPr>
                        <a:defRPr/>
                      </a:pPr>
                      <a:endParaRPr lang="en-US"/>
                    </a:p>
                    <a:p>
                      <a:pPr>
                        <a:defRPr/>
                      </a:pPr>
                      <a:endParaRPr lang="en-US"/>
                    </a:p>
                    <a:p>
                      <a:pPr>
                        <a:defRPr/>
                      </a:pPr>
                      <a:endParaRPr lang="en-US"/>
                    </a:p>
                    <a:p>
                      <a:pPr>
                        <a:defRPr/>
                      </a:pPr>
                      <a:endParaRPr lang="en-US"/>
                    </a:p>
                    <a:p>
                      <a:pPr>
                        <a:defRPr/>
                      </a:pPr>
                      <a:r>
                        <a:rPr lang="en-US"/>
                        <a:t>6</a:t>
                      </a:r>
                      <a:endParaRPr lang="en-US"/>
                    </a:p>
                  </a:txBody>
                  <a:tcPr/>
                </a:tc>
                <a:tc>
                  <a:txBody>
                    <a:bodyPr/>
                    <a:p>
                      <a:pPr>
                        <a:defRPr/>
                      </a:pPr>
                      <a:r>
                        <a:rPr lang="en-US" sz="1000"/>
                        <a:t>M. Mukherjee, S. Singh — “Driver Distraction Detection Using CNN-LSTM Networks”</a:t>
                      </a:r>
                      <a:endParaRPr lang="en-US" sz="1000"/>
                    </a:p>
                    <a:p>
                      <a:pPr>
                        <a:defRPr/>
                      </a:pP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Y. Zhao, L. Wang — “Spatio-Temporal Attention Models for Human Activity Recognition”</a:t>
                      </a:r>
                      <a:endParaRPr lang="en-US" sz="1000"/>
                    </a:p>
                  </a:txBody>
                  <a:tcPr/>
                </a:tc>
                <a:tc>
                  <a:txBody>
                    <a:bodyPr/>
                    <a:p>
                      <a:pPr>
                        <a:defRPr/>
                      </a:pPr>
                      <a:r>
                        <a:rPr lang="en-US" sz="1000"/>
                        <a:t>IIEEE Intelligent Transportation Systems (ITS),</a:t>
                      </a:r>
                      <a:endParaRPr lang="en-US" sz="1000"/>
                    </a:p>
                    <a:p>
                      <a:pPr>
                        <a:defRPr/>
                      </a:pPr>
                      <a:r>
                        <a:rPr lang="en-US" sz="1000"/>
                        <a:t>Vol. 22, Issue 4, pp. 2451–2462, April 2021.</a:t>
                      </a:r>
                      <a:endParaRPr lang="en-US" sz="1000"/>
                    </a:p>
                    <a:p>
                      <a:pPr>
                        <a:defRPr/>
                      </a:pPr>
                      <a:endParaRPr lang="en-US" sz="1000"/>
                    </a:p>
                    <a:p>
                      <a:pPr>
                        <a:defRPr/>
                      </a:pPr>
                      <a:endParaRPr lang="en-US" sz="1000"/>
                    </a:p>
                    <a:p>
                      <a:pPr>
                        <a:defRPr/>
                      </a:pPr>
                      <a:endParaRPr lang="en-US" sz="1000"/>
                    </a:p>
                    <a:p>
                      <a:pPr>
                        <a:defRPr/>
                      </a:pPr>
                      <a:r>
                        <a:rPr lang="en-US" sz="1000"/>
                        <a:t>IEEE Transactions on Image Processing (TIP),</a:t>
                      </a:r>
                      <a:endParaRPr lang="en-US" sz="1000"/>
                    </a:p>
                    <a:p>
                      <a:pPr>
                        <a:defRPr/>
                      </a:pPr>
                      <a:r>
                        <a:rPr lang="en-US" sz="1000"/>
                        <a:t>Vol. 28, Issue 11, pp. 5590–5602, November 2019.</a:t>
                      </a:r>
                      <a:endParaRPr lang="en-US" sz="1000"/>
                    </a:p>
                  </a:txBody>
                  <a:tcPr/>
                </a:tc>
                <a:tc>
                  <a:txBody>
                    <a:bodyPr/>
                    <a:p>
                      <a:pPr>
                        <a:defRPr/>
                      </a:pPr>
                      <a:r>
                        <a:rPr lang="en-US" sz="800"/>
                        <a:t>Although focused on drivers, the paper’s CNN–LSTM hybrid architecture is highly relevant as it detects distraction using temporal sequences of facial movements. The temporal modeling approach closely aligns with FocusSense’s spatio-temporal focus detection strategy.</a:t>
                      </a:r>
                      <a:endParaRPr lang="en-US" sz="800"/>
                    </a:p>
                    <a:p>
                      <a:pPr>
                        <a:defRPr/>
                      </a:pPr>
                      <a:endParaRPr lang="en-US" sz="800"/>
                    </a:p>
                    <a:p>
                      <a:pPr>
                        <a:defRPr/>
                      </a:pPr>
                      <a:r>
                        <a:rPr lang="en-US" sz="800"/>
                        <a:t>This work introduces a spatio-temporal attention mechanism that improves the recognition of human actions across video frames. It demonstrates the importance of temporal learning (LSTMs) for analyzing continuous human behavior — an essential basis for FocusSense’s distraction-pattern detection.</a:t>
                      </a:r>
                      <a:endParaRPr lang="en-US" sz="8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3393229" name="Rectangle 1"/>
          <p:cNvSpPr/>
          <p:nvPr/>
        </p:nvSpPr>
        <p:spPr bwMode="auto">
          <a:xfrm>
            <a:off x="511810" y="967740"/>
            <a:ext cx="8014335" cy="3074035"/>
          </a:xfrm>
          <a:prstGeom prst="rect">
            <a:avLst/>
          </a:prstGeom>
        </p:spPr>
        <p:txBody>
          <a:bodyPr wrap="square">
            <a:noAutofit/>
          </a:bodyPr>
          <a:lstStyle/>
          <a:p>
            <a:pPr>
              <a:defRPr/>
            </a:pPr>
            <a:r>
              <a:rPr lang="en-IN" sz="2000" spc="-2">
                <a:latin typeface="Times New Roman"/>
                <a:ea typeface="DejaVu Sans"/>
              </a:rPr>
              <a:t> </a:t>
            </a:r>
            <a:endParaRPr lang="en-IN" sz="2000" spc="-2"/>
          </a:p>
          <a:p>
            <a:pPr>
              <a:defRPr/>
            </a:pPr>
            <a:endParaRPr lang="en-IN" sz="2400" spc="-2"/>
          </a:p>
          <a:p>
            <a:pPr>
              <a:defRPr/>
            </a:pPr>
            <a:r>
              <a:rPr lang="en-IN" sz="4400" spc="-2">
                <a:ea typeface="DejaVu Sans"/>
              </a:rPr>
              <a:t> </a:t>
            </a:r>
            <a:endParaRPr lang="en-IN" sz="4400" spc="-2"/>
          </a:p>
          <a:p>
            <a:pPr>
              <a:defRPr/>
            </a:pPr>
            <a:endParaRPr lang="en-IN" sz="4400" spc="-2"/>
          </a:p>
          <a:p>
            <a:pPr>
              <a:defRPr/>
            </a:pPr>
            <a:endParaRPr lang="en-IN" sz="4400" spc="-2"/>
          </a:p>
          <a:p>
            <a:pPr>
              <a:defRPr/>
            </a:pPr>
            <a:endParaRPr lang="en-IN" sz="4400" spc="-2"/>
          </a:p>
        </p:txBody>
      </p:sp>
      <p:sp>
        <p:nvSpPr>
          <p:cNvPr id="188119988" name="Title 1"/>
          <p:cNvSpPr>
            <a:spLocks noGrp="1"/>
          </p:cNvSpPr>
          <p:nvPr>
            <p:ph type="title" idx="4294967295"/>
          </p:nvPr>
        </p:nvSpPr>
        <p:spPr bwMode="auto">
          <a:xfrm>
            <a:off x="2576212" y="0"/>
            <a:ext cx="11277600" cy="1230312"/>
          </a:xfrm>
        </p:spPr>
        <p:txBody>
          <a:bodyPr>
            <a:normAutofit/>
          </a:bodyPr>
          <a:lstStyle/>
          <a:p>
            <a:pPr defTabSz="914400">
              <a:defRPr/>
            </a:pPr>
            <a:r>
              <a:rPr lang="en-IN" sz="3200" b="1">
                <a:solidFill>
                  <a:schemeClr val="tx1"/>
                </a:solidFill>
                <a:cs typeface="MS PGothic"/>
              </a:rPr>
              <a:t>Literature Survey</a:t>
            </a:r>
            <a:endParaRPr lang="en-IN" sz="3200" b="1">
              <a:solidFill>
                <a:schemeClr val="tx1"/>
              </a:solidFill>
              <a:cs typeface="MS PGothic"/>
            </a:endParaRPr>
          </a:p>
        </p:txBody>
      </p:sp>
      <p:graphicFrame>
        <p:nvGraphicFramePr>
          <p:cNvPr id="1031733864" name="Table 3"/>
          <p:cNvGraphicFramePr>
            <a:graphicFrameLocks xmlns:a="http://schemas.openxmlformats.org/drawingml/2006/main" noGrp="1"/>
          </p:cNvGraphicFramePr>
          <p:nvPr/>
        </p:nvGraphicFramePr>
        <p:xfrm rot="0">
          <a:off x="511810" y="967740"/>
          <a:ext cx="8014335" cy="2740660"/>
        </p:xfrm>
        <a:graphic>
          <a:graphicData uri="http://schemas.openxmlformats.org/drawingml/2006/table">
            <a:tbl>
              <a:tblPr firstRow="1" firstCol="0" lastRow="0" lastCol="0" bandRow="1" bandCol="0">
                <a:tableStyleId>{5C22544A-7EE6-4342-B048-85BDC9FD1C3A}</a:tableStyleId>
              </a:tblPr>
              <a:tblGrid>
                <a:gridCol w="908685"/>
                <a:gridCol w="3098800"/>
                <a:gridCol w="2003425"/>
                <a:gridCol w="2003425"/>
              </a:tblGrid>
              <a:tr h="582295">
                <a:tc>
                  <a:txBody>
                    <a:bodyPr/>
                    <a:p>
                      <a:pPr>
                        <a:defRPr/>
                      </a:pPr>
                      <a:r>
                        <a:rPr lang="en-US"/>
                        <a:t>SL No</a:t>
                      </a:r>
                      <a:endParaRPr lang="en-US"/>
                    </a:p>
                  </a:txBody>
                  <a:tcPr/>
                </a:tc>
                <a:tc>
                  <a:txBody>
                    <a:bodyPr/>
                    <a:p>
                      <a:pPr>
                        <a:defRPr/>
                      </a:pPr>
                      <a:r>
                        <a:rPr lang="en-US"/>
                        <a:t>Authors&amp; Paper title</a:t>
                      </a:r>
                      <a:endParaRPr lang="en-US"/>
                    </a:p>
                  </a:txBody>
                  <a:tcPr/>
                </a:tc>
                <a:tc>
                  <a:txBody>
                    <a:bodyPr/>
                    <a:p>
                      <a:pPr>
                        <a:defRPr/>
                      </a:pPr>
                      <a:r>
                        <a:rPr lang="en-US"/>
                        <a:t>Details of Publication</a:t>
                      </a:r>
                      <a:endParaRPr lang="en-US"/>
                    </a:p>
                  </a:txBody>
                  <a:tcPr/>
                </a:tc>
                <a:tc>
                  <a:txBody>
                    <a:bodyPr/>
                    <a:p>
                      <a:pPr>
                        <a:defRPr/>
                      </a:pPr>
                      <a:r>
                        <a:rPr lang="en-US"/>
                        <a:t>Summary of the paper</a:t>
                      </a:r>
                      <a:endParaRPr lang="en-US"/>
                    </a:p>
                  </a:txBody>
                  <a:tcPr/>
                </a:tc>
              </a:tr>
              <a:tr h="2158365">
                <a:tc>
                  <a:txBody>
                    <a:bodyPr/>
                    <a:p>
                      <a:pPr>
                        <a:defRPr/>
                      </a:pPr>
                      <a:r>
                        <a:rPr lang="en-US"/>
                        <a:t>7</a:t>
                      </a:r>
                      <a:endParaRPr lang="en-US"/>
                    </a:p>
                    <a:p>
                      <a:pPr>
                        <a:defRPr/>
                      </a:pPr>
                      <a:endParaRPr lang="en-US"/>
                    </a:p>
                    <a:p>
                      <a:pPr>
                        <a:defRPr/>
                      </a:pPr>
                      <a:endParaRPr lang="en-US"/>
                    </a:p>
                    <a:p>
                      <a:pPr>
                        <a:defRPr/>
                      </a:pPr>
                      <a:endParaRPr lang="en-US"/>
                    </a:p>
                    <a:p>
                      <a:pPr>
                        <a:defRPr/>
                      </a:pPr>
                      <a:endParaRPr lang="en-US"/>
                    </a:p>
                    <a:p>
                      <a:pPr>
                        <a:defRPr/>
                      </a:pPr>
                      <a:r>
                        <a:rPr lang="en-US"/>
                        <a:t>8</a:t>
                      </a:r>
                      <a:endParaRPr lang="en-US"/>
                    </a:p>
                  </a:txBody>
                  <a:tcPr/>
                </a:tc>
                <a:tc>
                  <a:txBody>
                    <a:bodyPr/>
                    <a:p>
                      <a:pPr>
                        <a:defRPr/>
                      </a:pPr>
                      <a:r>
                        <a:rPr lang="en-US" sz="1000"/>
                        <a:t>H. Wu, A. Howard, et al. — “MobileNetV3: Searching for Lightweight CNN Architectures for Mobile Vision”</a:t>
                      </a: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K. Kim, R. Mehra — “Eye-Gaze Patterns for Estimating Cognitive Load in Learning Tasks”</a:t>
                      </a:r>
                      <a:endParaRPr lang="en-US" sz="1000"/>
                    </a:p>
                  </a:txBody>
                  <a:tcPr/>
                </a:tc>
                <a:tc>
                  <a:txBody>
                    <a:bodyPr/>
                    <a:p>
                      <a:pPr>
                        <a:defRPr/>
                      </a:pPr>
                      <a:r>
                        <a:rPr lang="en-US" sz="1000"/>
                        <a:t>IEEE International Conference on Computer Vision (ICCV),</a:t>
                      </a:r>
                      <a:endParaRPr lang="en-US" sz="1000"/>
                    </a:p>
                    <a:p>
                      <a:pPr>
                        <a:defRPr/>
                      </a:pPr>
                      <a:r>
                        <a:rPr lang="en-US" sz="1000"/>
                        <a:t>pp. 1314–1324, October 2019.</a:t>
                      </a: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ACM International Conference on Multimodal Interaction (ICMI),</a:t>
                      </a:r>
                      <a:endParaRPr lang="en-US" sz="1000"/>
                    </a:p>
                    <a:p>
                      <a:pPr>
                        <a:defRPr/>
                      </a:pPr>
                      <a:r>
                        <a:rPr lang="en-US" sz="1000"/>
                        <a:t>pp. 265–274, October 2021.</a:t>
                      </a:r>
                      <a:endParaRPr lang="en-US" sz="1000"/>
                    </a:p>
                  </a:txBody>
                  <a:tcPr/>
                </a:tc>
                <a:tc>
                  <a:txBody>
                    <a:bodyPr/>
                    <a:p>
                      <a:pPr>
                        <a:defRPr/>
                      </a:pPr>
                      <a:r>
                        <a:rPr lang="en-US" sz="800"/>
                        <a:t>This paper presents MobileNetV3, an efficient CNN optimized for real-time inference on mobile devices. FocusSense can adopt similar lightweight models in future mobile or cloud-integrated versions, enhancing on-device focus detection performance.</a:t>
                      </a:r>
                      <a:endParaRPr lang="en-US" sz="800"/>
                    </a:p>
                    <a:p>
                      <a:pPr>
                        <a:defRPr/>
                      </a:pPr>
                      <a:endParaRPr lang="en-US" sz="800"/>
                    </a:p>
                    <a:p>
                      <a:pPr>
                        <a:defRPr/>
                      </a:pPr>
                      <a:r>
                        <a:rPr lang="en-US" sz="800"/>
                        <a:t>This study evaluates how eye movements, saccades, and gaze deviations relate to cognitive load. It provides strong evidence that gaze variations reflect mental focus, helping justify the use of eye-gaze tracking in FocusSense for attention monitoring.</a:t>
                      </a:r>
                      <a:endParaRPr lang="en-US" sz="8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3904356" name="Rectangle 1"/>
          <p:cNvSpPr/>
          <p:nvPr/>
        </p:nvSpPr>
        <p:spPr bwMode="auto">
          <a:xfrm>
            <a:off x="511810" y="967740"/>
            <a:ext cx="8014335" cy="3074035"/>
          </a:xfrm>
          <a:prstGeom prst="rect">
            <a:avLst/>
          </a:prstGeom>
        </p:spPr>
        <p:txBody>
          <a:bodyPr wrap="square">
            <a:noAutofit/>
          </a:bodyPr>
          <a:lstStyle/>
          <a:p>
            <a:pPr>
              <a:defRPr/>
            </a:pPr>
            <a:r>
              <a:rPr lang="en-IN" sz="2000" spc="-2">
                <a:latin typeface="Times New Roman"/>
                <a:ea typeface="DejaVu Sans"/>
              </a:rPr>
              <a:t> </a:t>
            </a:r>
            <a:endParaRPr lang="en-IN" sz="2000" spc="-2"/>
          </a:p>
          <a:p>
            <a:pPr>
              <a:defRPr/>
            </a:pPr>
            <a:endParaRPr lang="en-IN" sz="2400" spc="-2"/>
          </a:p>
          <a:p>
            <a:pPr>
              <a:defRPr/>
            </a:pPr>
            <a:r>
              <a:rPr lang="en-IN" sz="4400" spc="-2">
                <a:ea typeface="DejaVu Sans"/>
              </a:rPr>
              <a:t> </a:t>
            </a:r>
            <a:endParaRPr lang="en-IN" sz="4400" spc="-2"/>
          </a:p>
          <a:p>
            <a:pPr>
              <a:defRPr/>
            </a:pPr>
            <a:endParaRPr lang="en-IN" sz="4400" spc="-2"/>
          </a:p>
          <a:p>
            <a:pPr>
              <a:defRPr/>
            </a:pPr>
            <a:endParaRPr lang="en-IN" sz="4400" spc="-2"/>
          </a:p>
          <a:p>
            <a:pPr>
              <a:defRPr/>
            </a:pPr>
            <a:endParaRPr lang="en-IN" sz="4400" spc="-2"/>
          </a:p>
        </p:txBody>
      </p:sp>
      <p:sp>
        <p:nvSpPr>
          <p:cNvPr id="150033217" name="Title 1"/>
          <p:cNvSpPr>
            <a:spLocks noGrp="1"/>
          </p:cNvSpPr>
          <p:nvPr>
            <p:ph type="title" idx="4294967295"/>
          </p:nvPr>
        </p:nvSpPr>
        <p:spPr bwMode="auto">
          <a:xfrm>
            <a:off x="2576212" y="0"/>
            <a:ext cx="11277600" cy="1230312"/>
          </a:xfrm>
        </p:spPr>
        <p:txBody>
          <a:bodyPr>
            <a:normAutofit/>
          </a:bodyPr>
          <a:lstStyle/>
          <a:p>
            <a:pPr defTabSz="914400">
              <a:defRPr/>
            </a:pPr>
            <a:r>
              <a:rPr lang="en-IN" sz="3200" b="1">
                <a:solidFill>
                  <a:schemeClr val="tx1"/>
                </a:solidFill>
                <a:cs typeface="MS PGothic"/>
              </a:rPr>
              <a:t>Literature Survey</a:t>
            </a:r>
            <a:endParaRPr lang="en-IN" sz="3200" b="1">
              <a:solidFill>
                <a:schemeClr val="tx1"/>
              </a:solidFill>
              <a:cs typeface="MS PGothic"/>
            </a:endParaRPr>
          </a:p>
        </p:txBody>
      </p:sp>
      <p:graphicFrame>
        <p:nvGraphicFramePr>
          <p:cNvPr id="915450111" name="Table 3"/>
          <p:cNvGraphicFramePr>
            <a:graphicFrameLocks xmlns:a="http://schemas.openxmlformats.org/drawingml/2006/main" noGrp="1"/>
          </p:cNvGraphicFramePr>
          <p:nvPr/>
        </p:nvGraphicFramePr>
        <p:xfrm rot="0">
          <a:off x="511810" y="967740"/>
          <a:ext cx="8014335" cy="2740660"/>
        </p:xfrm>
        <a:graphic>
          <a:graphicData uri="http://schemas.openxmlformats.org/drawingml/2006/table">
            <a:tbl>
              <a:tblPr firstRow="1" firstCol="0" lastRow="0" lastCol="0" bandRow="1" bandCol="0">
                <a:tableStyleId>{5C22544A-7EE6-4342-B048-85BDC9FD1C3A}</a:tableStyleId>
              </a:tblPr>
              <a:tblGrid>
                <a:gridCol w="908685"/>
                <a:gridCol w="3098800"/>
                <a:gridCol w="2003425"/>
                <a:gridCol w="2003425"/>
              </a:tblGrid>
              <a:tr h="582295">
                <a:tc>
                  <a:txBody>
                    <a:bodyPr/>
                    <a:p>
                      <a:pPr>
                        <a:defRPr/>
                      </a:pPr>
                      <a:r>
                        <a:rPr lang="en-US"/>
                        <a:t>SL No</a:t>
                      </a:r>
                      <a:endParaRPr lang="en-US"/>
                    </a:p>
                  </a:txBody>
                  <a:tcPr/>
                </a:tc>
                <a:tc>
                  <a:txBody>
                    <a:bodyPr/>
                    <a:p>
                      <a:pPr>
                        <a:defRPr/>
                      </a:pPr>
                      <a:r>
                        <a:rPr lang="en-US"/>
                        <a:t>Authors&amp; Paper title</a:t>
                      </a:r>
                      <a:endParaRPr lang="en-US"/>
                    </a:p>
                  </a:txBody>
                  <a:tcPr/>
                </a:tc>
                <a:tc>
                  <a:txBody>
                    <a:bodyPr/>
                    <a:p>
                      <a:pPr>
                        <a:defRPr/>
                      </a:pPr>
                      <a:r>
                        <a:rPr lang="en-US"/>
                        <a:t>Details of Publication</a:t>
                      </a:r>
                      <a:endParaRPr lang="en-US"/>
                    </a:p>
                  </a:txBody>
                  <a:tcPr/>
                </a:tc>
                <a:tc>
                  <a:txBody>
                    <a:bodyPr/>
                    <a:p>
                      <a:pPr>
                        <a:defRPr/>
                      </a:pPr>
                      <a:r>
                        <a:rPr lang="en-US"/>
                        <a:t>Summary of the paper</a:t>
                      </a:r>
                      <a:endParaRPr lang="en-US"/>
                    </a:p>
                  </a:txBody>
                  <a:tcPr/>
                </a:tc>
              </a:tr>
              <a:tr h="2158365">
                <a:tc>
                  <a:txBody>
                    <a:bodyPr/>
                    <a:p>
                      <a:pPr>
                        <a:defRPr/>
                      </a:pPr>
                      <a:r>
                        <a:rPr lang="en-US"/>
                        <a:t>9</a:t>
                      </a:r>
                      <a:endParaRPr lang="en-US"/>
                    </a:p>
                    <a:p>
                      <a:pPr>
                        <a:defRPr/>
                      </a:pPr>
                      <a:endParaRPr lang="en-US"/>
                    </a:p>
                    <a:p>
                      <a:pPr>
                        <a:defRPr/>
                      </a:pPr>
                      <a:endParaRPr lang="en-US"/>
                    </a:p>
                    <a:p>
                      <a:pPr>
                        <a:defRPr/>
                      </a:pPr>
                      <a:endParaRPr lang="en-US"/>
                    </a:p>
                    <a:p>
                      <a:pPr>
                        <a:defRPr/>
                      </a:pPr>
                      <a:endParaRPr lang="en-US"/>
                    </a:p>
                    <a:p>
                      <a:pPr>
                        <a:defRPr/>
                      </a:pPr>
                      <a:r>
                        <a:rPr lang="en-US"/>
                        <a:t>10</a:t>
                      </a:r>
                      <a:endParaRPr lang="en-US"/>
                    </a:p>
                  </a:txBody>
                  <a:tcPr/>
                </a:tc>
                <a:tc>
                  <a:txBody>
                    <a:bodyPr/>
                    <a:p>
                      <a:pPr>
                        <a:defRPr/>
                      </a:pPr>
                      <a:r>
                        <a:rPr lang="en-US" sz="1000"/>
                        <a:t>N. Srivastava, R. Gupta — “Deep Learning-Based Classroom Attention Recognition System”</a:t>
                      </a:r>
                      <a:endParaRPr lang="en-US" sz="1000"/>
                    </a:p>
                    <a:p>
                      <a:pPr>
                        <a:defRPr/>
                      </a:pP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S. Hadji, J. S. Zelek — “Temporal Learning for Human Behavior Understanding Using LSTM Networks”</a:t>
                      </a:r>
                      <a:endParaRPr lang="en-US" sz="1000"/>
                    </a:p>
                  </a:txBody>
                  <a:tcPr/>
                </a:tc>
                <a:tc>
                  <a:txBody>
                    <a:bodyPr/>
                    <a:p>
                      <a:pPr>
                        <a:defRPr/>
                      </a:pPr>
                      <a:r>
                        <a:rPr lang="en-US" sz="1000"/>
                        <a:t>IEEE Access,</a:t>
                      </a:r>
                      <a:endParaRPr lang="en-US" sz="1000"/>
                    </a:p>
                    <a:p>
                      <a:pPr>
                        <a:defRPr/>
                      </a:pPr>
                      <a:r>
                        <a:rPr lang="en-US" sz="1000"/>
                        <a:t>Vol. 10, pp. 51012–51023, May 2022.</a:t>
                      </a:r>
                      <a:endParaRPr lang="en-US" sz="1000"/>
                    </a:p>
                    <a:p>
                      <a:pPr>
                        <a:defRPr/>
                      </a:pPr>
                      <a:endParaRPr lang="en-US" sz="1000"/>
                    </a:p>
                    <a:p>
                      <a:pPr>
                        <a:defRPr/>
                      </a:pPr>
                      <a:endParaRPr lang="en-US" sz="1000"/>
                    </a:p>
                    <a:p>
                      <a:pPr>
                        <a:defRPr/>
                      </a:pPr>
                      <a:endParaRPr lang="en-US" sz="1000"/>
                    </a:p>
                    <a:p>
                      <a:pPr>
                        <a:defRPr/>
                      </a:pPr>
                      <a:endParaRPr lang="en-US" sz="1000"/>
                    </a:p>
                    <a:p>
                      <a:pPr>
                        <a:defRPr/>
                      </a:pPr>
                      <a:r>
                        <a:rPr lang="en-US" sz="1000"/>
                        <a:t>IEEE Transactions on Pattern Analysis and Machine Intelligence (TPAMI),</a:t>
                      </a:r>
                      <a:endParaRPr lang="en-US" sz="1000"/>
                    </a:p>
                    <a:p>
                      <a:pPr>
                        <a:defRPr/>
                      </a:pPr>
                      <a:r>
                        <a:rPr lang="en-US" sz="1000"/>
                        <a:t>Vol. 43, Issue 4, pp. 1328–1342, April 2021.</a:t>
                      </a:r>
                      <a:endParaRPr lang="en-US" sz="1000"/>
                    </a:p>
                  </a:txBody>
                  <a:tcPr/>
                </a:tc>
                <a:tc>
                  <a:txBody>
                    <a:bodyPr/>
                    <a:p>
                      <a:pPr>
                        <a:defRPr/>
                      </a:pPr>
                      <a:r>
                        <a:rPr lang="en-US" sz="800"/>
                        <a:t>The paper builds a CNN-based model that classifies student attention from classroom video recordings. It emphasizes posture, gaze, and eye movement — components that strongly connect to FocusSense’s goal of monitoring study concentration in real time.</a:t>
                      </a:r>
                      <a:endParaRPr lang="en-US" sz="800"/>
                    </a:p>
                    <a:p>
                      <a:pPr>
                        <a:defRPr/>
                      </a:pPr>
                      <a:endParaRPr lang="en-US" sz="800"/>
                    </a:p>
                    <a:p>
                      <a:pPr>
                        <a:defRPr/>
                      </a:pPr>
                      <a:r>
                        <a:rPr lang="en-US" sz="800"/>
                        <a:t>The paper highlights the value of LSTM networks in modeling temporal patterns of human behavior, including subtle head and eye movements. This directly supports FocusSense’s hybrid CNN–LSTM approach for analyzing patterns of distraction.</a:t>
                      </a:r>
                      <a:endParaRPr lang="en-US" sz="8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7511380"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786291310" name="Title 1"/>
          <p:cNvSpPr>
            <a:spLocks noGrp="1"/>
          </p:cNvSpPr>
          <p:nvPr>
            <p:ph type="title" idx="4294967295"/>
          </p:nvPr>
        </p:nvSpPr>
        <p:spPr bwMode="auto">
          <a:xfrm>
            <a:off x="2064385" y="0"/>
            <a:ext cx="11789410" cy="1229995"/>
          </a:xfrm>
        </p:spPr>
        <p:txBody>
          <a:bodyPr>
            <a:normAutofit/>
          </a:bodyPr>
          <a:lstStyle/>
          <a:p>
            <a:pPr>
              <a:defRPr/>
            </a:pPr>
            <a:r>
              <a:rPr lang="en-US" sz="3200" b="1"/>
              <a:t>Proposed Methodology </a:t>
            </a:r>
            <a:endParaRPr lang="en-US" sz="3200" b="1"/>
          </a:p>
        </p:txBody>
      </p:sp>
      <p:sp>
        <p:nvSpPr>
          <p:cNvPr id="1697636267" name="Text Box 3"/>
          <p:cNvSpPr txBox="1"/>
          <p:nvPr/>
        </p:nvSpPr>
        <p:spPr bwMode="auto">
          <a:xfrm>
            <a:off x="539750" y="878840"/>
            <a:ext cx="7859394" cy="1163955"/>
          </a:xfrm>
          <a:prstGeom prst="rect">
            <a:avLst/>
          </a:prstGeom>
        </p:spPr>
        <p:txBody>
          <a:bodyPr>
            <a:noAutofit/>
          </a:bodyPr>
          <a:p>
            <a:pPr>
              <a:defRPr/>
            </a:pPr>
            <a:r>
              <a:rPr lang="en-US" sz="1600" b="1">
                <a:latin typeface="Arial"/>
                <a:cs typeface="Arial"/>
              </a:rPr>
              <a:t>1. Data Acquisition (Real-Time Video Capture)</a:t>
            </a:r>
            <a:endParaRPr lang="en-US" sz="1600" b="1">
              <a:latin typeface="Arial"/>
              <a:cs typeface="Arial"/>
            </a:endParaRPr>
          </a:p>
          <a:p>
            <a:pPr>
              <a:defRPr/>
            </a:pPr>
            <a:r>
              <a:rPr lang="en-US" sz="1600"/>
              <a:t>    Uses the system webcam to capture continuous video frames.</a:t>
            </a:r>
            <a:endParaRPr lang="en-US" sz="1600"/>
          </a:p>
          <a:p>
            <a:pPr>
              <a:defRPr/>
            </a:pPr>
            <a:r>
              <a:rPr lang="en-US" sz="1600"/>
              <a:t>    OpenCV handles real-time input with minimal latency.</a:t>
            </a:r>
            <a:endParaRPr lang="en-US" sz="1600"/>
          </a:p>
        </p:txBody>
      </p:sp>
      <p:sp>
        <p:nvSpPr>
          <p:cNvPr id="1045861244" name="Text Box 4"/>
          <p:cNvSpPr txBox="1"/>
          <p:nvPr/>
        </p:nvSpPr>
        <p:spPr bwMode="auto">
          <a:xfrm>
            <a:off x="539115" y="3912870"/>
            <a:ext cx="7860030" cy="434340"/>
          </a:xfrm>
          <a:prstGeom prst="rect">
            <a:avLst/>
          </a:prstGeom>
        </p:spPr>
        <p:txBody>
          <a:bodyPr wrap="square">
            <a:noAutofit/>
          </a:bodyPr>
          <a:p>
            <a:pPr>
              <a:defRPr/>
            </a:pPr>
            <a:endParaRPr lang="en-US" sz="1600">
              <a:latin typeface="Arial"/>
              <a:cs typeface="Arial"/>
            </a:endParaRPr>
          </a:p>
        </p:txBody>
      </p:sp>
      <p:sp>
        <p:nvSpPr>
          <p:cNvPr id="1710368907" name="Text Box 5"/>
          <p:cNvSpPr txBox="1"/>
          <p:nvPr/>
        </p:nvSpPr>
        <p:spPr bwMode="auto">
          <a:xfrm>
            <a:off x="540385" y="2106295"/>
            <a:ext cx="7860030" cy="1814830"/>
          </a:xfrm>
          <a:prstGeom prst="rect">
            <a:avLst/>
          </a:prstGeom>
          <a:noFill/>
        </p:spPr>
        <p:txBody>
          <a:bodyPr wrap="square" rtlCol="0" anchor="t">
            <a:spAutoFit/>
          </a:bodyPr>
          <a:p>
            <a:pPr>
              <a:defRPr/>
            </a:pPr>
            <a:r>
              <a:rPr lang="en-US" sz="1600" b="1">
                <a:latin typeface="Arial"/>
                <a:cs typeface="Arial"/>
              </a:rPr>
              <a:t>2. Facial Landmark &amp; Eye-Gaze Extraction</a:t>
            </a:r>
            <a:endParaRPr lang="en-US" sz="1600" b="1">
              <a:latin typeface="Arial"/>
              <a:cs typeface="Arial"/>
            </a:endParaRPr>
          </a:p>
          <a:p>
            <a:pPr>
              <a:defRPr/>
            </a:pPr>
            <a:r>
              <a:rPr lang="en-US" sz="1600"/>
              <a:t>    Facial landmarks are extracted using MediaPipe Face Mesh (468 key points).</a:t>
            </a:r>
            <a:endParaRPr lang="en-US" sz="1600"/>
          </a:p>
          <a:p>
            <a:pPr>
              <a:defRPr/>
            </a:pPr>
            <a:r>
              <a:rPr lang="en-US" sz="1600"/>
              <a:t>    Eye region is isolated to determine:</a:t>
            </a:r>
            <a:endParaRPr lang="en-US" sz="1600"/>
          </a:p>
          <a:p>
            <a:pPr>
              <a:defRPr/>
            </a:pPr>
            <a:r>
              <a:rPr lang="en-US" sz="1600" b="1">
                <a:latin typeface="Arial"/>
                <a:cs typeface="Arial"/>
              </a:rPr>
              <a:t>    i.   Pupil direction</a:t>
            </a:r>
            <a:endParaRPr lang="en-US" sz="1600" b="1">
              <a:latin typeface="Arial"/>
              <a:cs typeface="Arial"/>
            </a:endParaRPr>
          </a:p>
          <a:p>
            <a:pPr>
              <a:defRPr/>
            </a:pPr>
            <a:r>
              <a:rPr lang="en-US" sz="1600" b="1">
                <a:latin typeface="Arial"/>
                <a:cs typeface="Arial"/>
              </a:rPr>
              <a:t>    ii.  Eye openness</a:t>
            </a:r>
            <a:endParaRPr lang="en-US" sz="1600" b="1">
              <a:latin typeface="Arial"/>
              <a:cs typeface="Arial"/>
            </a:endParaRPr>
          </a:p>
          <a:p>
            <a:pPr>
              <a:defRPr/>
            </a:pPr>
            <a:r>
              <a:rPr lang="en-US" sz="1600" b="1">
                <a:latin typeface="Arial"/>
                <a:cs typeface="Arial"/>
              </a:rPr>
              <a:t>    iii. Gaze vector</a:t>
            </a:r>
            <a:endParaRPr lang="en-US" sz="1600" b="1">
              <a:latin typeface="Arial"/>
              <a:cs typeface="Arial"/>
            </a:endParaRPr>
          </a:p>
          <a:p>
            <a:pPr>
              <a:defRPr/>
            </a:pPr>
            <a:r>
              <a:rPr lang="en-US" sz="1600">
                <a:latin typeface="Arial"/>
                <a:cs typeface="Arial"/>
              </a:rPr>
              <a:t>    Helps determine whether the user is looking at the screen or away.</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3704713"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1243688931" name="Title 1"/>
          <p:cNvSpPr>
            <a:spLocks noGrp="1"/>
          </p:cNvSpPr>
          <p:nvPr>
            <p:ph type="title" idx="4294967295"/>
          </p:nvPr>
        </p:nvSpPr>
        <p:spPr bwMode="auto">
          <a:xfrm>
            <a:off x="2064385" y="0"/>
            <a:ext cx="11789410" cy="1229995"/>
          </a:xfrm>
        </p:spPr>
        <p:txBody>
          <a:bodyPr>
            <a:normAutofit/>
          </a:bodyPr>
          <a:lstStyle/>
          <a:p>
            <a:pPr>
              <a:defRPr/>
            </a:pPr>
            <a:r>
              <a:rPr lang="en-US" sz="3200" b="1"/>
              <a:t>Proposed Methodology </a:t>
            </a:r>
            <a:endParaRPr lang="en-US" sz="3200" b="1"/>
          </a:p>
        </p:txBody>
      </p:sp>
      <p:sp>
        <p:nvSpPr>
          <p:cNvPr id="240432330" name="Text Box 3"/>
          <p:cNvSpPr txBox="1"/>
          <p:nvPr/>
        </p:nvSpPr>
        <p:spPr bwMode="auto">
          <a:xfrm>
            <a:off x="539750" y="878840"/>
            <a:ext cx="7859394" cy="1779270"/>
          </a:xfrm>
          <a:prstGeom prst="rect">
            <a:avLst/>
          </a:prstGeom>
        </p:spPr>
        <p:txBody>
          <a:bodyPr>
            <a:noAutofit/>
          </a:bodyPr>
          <a:p>
            <a:pPr>
              <a:defRPr/>
            </a:pPr>
            <a:r>
              <a:rPr lang="en-US" sz="1600" b="1">
                <a:latin typeface="Arial"/>
                <a:cs typeface="Arial"/>
              </a:rPr>
              <a:t>3. Head Pose Estimation</a:t>
            </a:r>
            <a:endParaRPr lang="en-US" sz="1600" b="1">
              <a:latin typeface="Arial"/>
              <a:cs typeface="Arial"/>
            </a:endParaRPr>
          </a:p>
          <a:p>
            <a:pPr>
              <a:defRPr/>
            </a:pPr>
            <a:r>
              <a:rPr lang="en-US" sz="1600"/>
              <a:t>    3D head orientation is computed using PnP (Perspective-n-Point).</a:t>
            </a:r>
            <a:endParaRPr lang="en-US" sz="1600"/>
          </a:p>
          <a:p>
            <a:pPr>
              <a:defRPr/>
            </a:pPr>
            <a:r>
              <a:rPr lang="en-US" sz="1600"/>
              <a:t>    Key outputs:</a:t>
            </a:r>
            <a:endParaRPr lang="en-US" sz="1600"/>
          </a:p>
          <a:p>
            <a:pPr>
              <a:defRPr/>
            </a:pPr>
            <a:r>
              <a:rPr lang="en-US" sz="1600"/>
              <a:t>    </a:t>
            </a:r>
            <a:r>
              <a:rPr lang="en-US" sz="1600" b="1">
                <a:latin typeface="Arial"/>
                <a:cs typeface="Arial"/>
              </a:rPr>
              <a:t>i. Pitch (up/down)</a:t>
            </a:r>
            <a:endParaRPr lang="en-US" sz="1600" b="1">
              <a:latin typeface="Arial"/>
              <a:cs typeface="Arial"/>
            </a:endParaRPr>
          </a:p>
          <a:p>
            <a:pPr>
              <a:defRPr/>
            </a:pPr>
            <a:r>
              <a:rPr lang="en-US" sz="1600"/>
              <a:t>  </a:t>
            </a:r>
            <a:r>
              <a:rPr lang="en-US" sz="1600" b="1">
                <a:latin typeface="Arial"/>
                <a:cs typeface="Arial"/>
              </a:rPr>
              <a:t>  ii.Yaw (left/right)</a:t>
            </a:r>
            <a:endParaRPr lang="en-US" sz="1600"/>
          </a:p>
          <a:p>
            <a:pPr>
              <a:defRPr/>
            </a:pPr>
            <a:r>
              <a:rPr lang="en-US" sz="1600"/>
              <a:t>    </a:t>
            </a:r>
            <a:r>
              <a:rPr lang="en-US" sz="1600" b="1">
                <a:latin typeface="Arial"/>
                <a:cs typeface="Arial"/>
              </a:rPr>
              <a:t>iii.Roll (tilt)</a:t>
            </a:r>
            <a:endParaRPr lang="en-US" sz="1600" b="1">
              <a:latin typeface="Arial"/>
              <a:cs typeface="Arial"/>
            </a:endParaRPr>
          </a:p>
        </p:txBody>
      </p:sp>
      <p:sp>
        <p:nvSpPr>
          <p:cNvPr id="94011132" name="Text Box 4"/>
          <p:cNvSpPr txBox="1"/>
          <p:nvPr/>
        </p:nvSpPr>
        <p:spPr bwMode="auto">
          <a:xfrm>
            <a:off x="539115" y="3912870"/>
            <a:ext cx="7860030" cy="434340"/>
          </a:xfrm>
          <a:prstGeom prst="rect">
            <a:avLst/>
          </a:prstGeom>
        </p:spPr>
        <p:txBody>
          <a:bodyPr wrap="square">
            <a:noAutofit/>
          </a:bodyPr>
          <a:p>
            <a:pPr>
              <a:defRPr/>
            </a:pPr>
            <a:endParaRPr lang="en-US" sz="1600">
              <a:latin typeface="Arial"/>
              <a:cs typeface="Arial"/>
            </a:endParaRPr>
          </a:p>
        </p:txBody>
      </p:sp>
      <p:sp>
        <p:nvSpPr>
          <p:cNvPr id="1982234537" name="Text Box 5"/>
          <p:cNvSpPr txBox="1"/>
          <p:nvPr/>
        </p:nvSpPr>
        <p:spPr bwMode="auto">
          <a:xfrm>
            <a:off x="540385" y="2571750"/>
            <a:ext cx="7860030" cy="1814830"/>
          </a:xfrm>
          <a:prstGeom prst="rect">
            <a:avLst/>
          </a:prstGeom>
          <a:noFill/>
        </p:spPr>
        <p:txBody>
          <a:bodyPr wrap="square" rtlCol="0" anchor="t">
            <a:spAutoFit/>
          </a:bodyPr>
          <a:p>
            <a:pPr>
              <a:defRPr/>
            </a:pPr>
            <a:r>
              <a:rPr lang="en-US" sz="1600" b="1">
                <a:latin typeface="Arial"/>
                <a:cs typeface="Arial"/>
              </a:rPr>
              <a:t>4. Feature Engineering (Spatial Features)</a:t>
            </a:r>
            <a:endParaRPr lang="en-US" sz="1600" b="1">
              <a:latin typeface="Arial"/>
              <a:cs typeface="Arial"/>
            </a:endParaRPr>
          </a:p>
          <a:p>
            <a:pPr>
              <a:defRPr/>
            </a:pPr>
            <a:r>
              <a:rPr lang="en-US" sz="1600"/>
              <a:t>    From each frame, features include:</a:t>
            </a:r>
            <a:endParaRPr lang="en-US" sz="1600"/>
          </a:p>
          <a:p>
            <a:pPr>
              <a:defRPr/>
            </a:pPr>
            <a:r>
              <a:rPr lang="en-US" sz="1600"/>
              <a:t>   </a:t>
            </a:r>
            <a:r>
              <a:rPr lang="en-US" sz="1600" b="1">
                <a:latin typeface="Arial"/>
                <a:cs typeface="Arial"/>
              </a:rPr>
              <a:t> i.   Eye aspect ratio</a:t>
            </a:r>
            <a:endParaRPr lang="en-US" sz="1600" b="1">
              <a:latin typeface="Arial"/>
              <a:cs typeface="Arial"/>
            </a:endParaRPr>
          </a:p>
          <a:p>
            <a:pPr>
              <a:defRPr/>
            </a:pPr>
            <a:r>
              <a:rPr lang="en-US" sz="1600" b="1">
                <a:latin typeface="Arial"/>
                <a:cs typeface="Arial"/>
              </a:rPr>
              <a:t>    ii.  Gaze ratio</a:t>
            </a:r>
            <a:endParaRPr lang="en-US" sz="1600" b="1">
              <a:latin typeface="Arial"/>
              <a:cs typeface="Arial"/>
            </a:endParaRPr>
          </a:p>
          <a:p>
            <a:pPr>
              <a:defRPr/>
            </a:pPr>
            <a:r>
              <a:rPr lang="en-US" sz="1600" b="1">
                <a:latin typeface="Arial"/>
                <a:cs typeface="Arial"/>
              </a:rPr>
              <a:t>    iii. Head angle deviations</a:t>
            </a:r>
            <a:endParaRPr lang="en-US" sz="1600" b="1">
              <a:latin typeface="Arial"/>
              <a:cs typeface="Arial"/>
            </a:endParaRPr>
          </a:p>
          <a:p>
            <a:pPr>
              <a:defRPr/>
            </a:pPr>
            <a:r>
              <a:rPr lang="en-US" sz="1600" b="1">
                <a:latin typeface="Arial"/>
                <a:cs typeface="Arial"/>
              </a:rPr>
              <a:t>    iv. Facial orientation vectors</a:t>
            </a:r>
            <a:endParaRPr lang="en-US" sz="1600" b="1">
              <a:latin typeface="Arial"/>
              <a:cs typeface="Arial"/>
            </a:endParaRPr>
          </a:p>
          <a:p>
            <a:pPr>
              <a:defRPr/>
            </a:pPr>
            <a:r>
              <a:rPr lang="en-US" sz="1600">
                <a:latin typeface="Arial"/>
                <a:cs typeface="Arial"/>
              </a:rPr>
              <a:t>    These features are used as input to the deep learning model.</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6323611"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121857329" name="Title 1"/>
          <p:cNvSpPr>
            <a:spLocks noGrp="1"/>
          </p:cNvSpPr>
          <p:nvPr>
            <p:ph type="title" idx="4294967295"/>
          </p:nvPr>
        </p:nvSpPr>
        <p:spPr bwMode="auto">
          <a:xfrm>
            <a:off x="2064385" y="0"/>
            <a:ext cx="11789410" cy="1229995"/>
          </a:xfrm>
        </p:spPr>
        <p:txBody>
          <a:bodyPr>
            <a:normAutofit/>
          </a:bodyPr>
          <a:lstStyle/>
          <a:p>
            <a:pPr>
              <a:defRPr/>
            </a:pPr>
            <a:r>
              <a:rPr lang="en-US" sz="3200" b="1"/>
              <a:t>Proposed Methodology </a:t>
            </a:r>
            <a:endParaRPr lang="en-US" sz="3200" b="1"/>
          </a:p>
        </p:txBody>
      </p:sp>
      <p:sp>
        <p:nvSpPr>
          <p:cNvPr id="838259366" name="Text Box 3"/>
          <p:cNvSpPr txBox="1"/>
          <p:nvPr/>
        </p:nvSpPr>
        <p:spPr bwMode="auto">
          <a:xfrm>
            <a:off x="539115" y="868680"/>
            <a:ext cx="7859394" cy="2583180"/>
          </a:xfrm>
          <a:prstGeom prst="rect">
            <a:avLst/>
          </a:prstGeom>
        </p:spPr>
        <p:txBody>
          <a:bodyPr>
            <a:noAutofit/>
          </a:bodyPr>
          <a:p>
            <a:pPr>
              <a:defRPr/>
            </a:pPr>
            <a:r>
              <a:rPr lang="en-US" sz="1600" b="1">
                <a:latin typeface="Arial"/>
                <a:cs typeface="Arial"/>
              </a:rPr>
              <a:t>5. CNN + LSTM Hybrid Model</a:t>
            </a:r>
            <a:endParaRPr lang="en-US" sz="1600" b="1">
              <a:latin typeface="Arial"/>
              <a:cs typeface="Arial"/>
            </a:endParaRPr>
          </a:p>
          <a:p>
            <a:pPr>
              <a:defRPr/>
            </a:pPr>
            <a:r>
              <a:rPr lang="en-US" sz="1600"/>
              <a:t>    CNN Layer</a:t>
            </a:r>
            <a:endParaRPr lang="en-US" sz="1600"/>
          </a:p>
          <a:p>
            <a:pPr>
              <a:defRPr/>
            </a:pPr>
            <a:r>
              <a:rPr lang="en-US" sz="1600"/>
              <a:t>    Extracts spatial features from each frame (gaze, face orientation, pose).</a:t>
            </a:r>
            <a:endParaRPr lang="en-US" sz="1600"/>
          </a:p>
          <a:p>
            <a:pPr>
              <a:defRPr/>
            </a:pPr>
            <a:r>
              <a:rPr lang="en-US" sz="1600" b="1">
                <a:latin typeface="Arial"/>
                <a:cs typeface="Arial"/>
              </a:rPr>
              <a:t>   </a:t>
            </a:r>
            <a:r>
              <a:rPr lang="en-US" sz="1600">
                <a:latin typeface="Arial"/>
                <a:cs typeface="Arial"/>
              </a:rPr>
              <a:t> LSTM Layer</a:t>
            </a:r>
            <a:endParaRPr lang="en-US" sz="1600">
              <a:latin typeface="Arial"/>
              <a:cs typeface="Arial"/>
            </a:endParaRPr>
          </a:p>
          <a:p>
            <a:pPr>
              <a:defRPr/>
            </a:pPr>
            <a:r>
              <a:rPr lang="en-US" sz="1600">
                <a:latin typeface="Arial"/>
                <a:cs typeface="Arial"/>
              </a:rPr>
              <a:t>    Processes sequences of frames (temporal analysis) to detect:</a:t>
            </a:r>
            <a:endParaRPr lang="en-US" sz="1600">
              <a:latin typeface="Arial"/>
              <a:cs typeface="Arial"/>
            </a:endParaRPr>
          </a:p>
          <a:p>
            <a:pPr>
              <a:defRPr/>
            </a:pPr>
            <a:r>
              <a:rPr lang="en-US" sz="1600" b="1">
                <a:latin typeface="Arial"/>
                <a:cs typeface="Arial"/>
              </a:rPr>
              <a:t>    i.   Sustained focus</a:t>
            </a:r>
            <a:endParaRPr lang="en-US" sz="1600" b="1">
              <a:latin typeface="Arial"/>
              <a:cs typeface="Arial"/>
            </a:endParaRPr>
          </a:p>
          <a:p>
            <a:pPr>
              <a:defRPr/>
            </a:pPr>
            <a:r>
              <a:rPr lang="en-US" sz="1600" b="1">
                <a:latin typeface="Arial"/>
                <a:cs typeface="Arial"/>
              </a:rPr>
              <a:t>    ii.  Micro-distractions</a:t>
            </a:r>
            <a:endParaRPr lang="en-US" sz="1600" b="1">
              <a:latin typeface="Arial"/>
              <a:cs typeface="Arial"/>
            </a:endParaRPr>
          </a:p>
          <a:p>
            <a:pPr>
              <a:defRPr/>
            </a:pPr>
            <a:r>
              <a:rPr lang="en-US" sz="1600" b="1">
                <a:latin typeface="Arial"/>
                <a:cs typeface="Arial"/>
              </a:rPr>
              <a:t>    iii. Long-term distraction patterns</a:t>
            </a:r>
            <a:endParaRPr lang="en-US" sz="1600" b="1">
              <a:latin typeface="Arial"/>
              <a:cs typeface="Arial"/>
            </a:endParaRPr>
          </a:p>
          <a:p>
            <a:pPr>
              <a:defRPr/>
            </a:pPr>
            <a:r>
              <a:rPr lang="en-US" sz="1600">
                <a:latin typeface="Arial"/>
                <a:cs typeface="Arial"/>
              </a:rPr>
              <a:t>    This allows FocusSense to recognize not just momentary but pattern-based                                </a:t>
            </a:r>
            <a:endParaRPr lang="en-US" sz="1600">
              <a:latin typeface="Arial"/>
              <a:cs typeface="Arial"/>
            </a:endParaRPr>
          </a:p>
          <a:p>
            <a:pPr>
              <a:defRPr/>
            </a:pPr>
            <a:r>
              <a:rPr lang="en-US" sz="1600">
                <a:latin typeface="Arial"/>
                <a:cs typeface="Arial"/>
              </a:rPr>
              <a:t>     attention drops.</a:t>
            </a:r>
            <a:endParaRPr lang="en-US" sz="1600">
              <a:latin typeface="Arial"/>
              <a:cs typeface="Arial"/>
            </a:endParaRPr>
          </a:p>
        </p:txBody>
      </p:sp>
      <p:sp>
        <p:nvSpPr>
          <p:cNvPr id="1144832268" name="Text Box 4"/>
          <p:cNvSpPr txBox="1"/>
          <p:nvPr/>
        </p:nvSpPr>
        <p:spPr bwMode="auto">
          <a:xfrm>
            <a:off x="539115" y="3912870"/>
            <a:ext cx="7860030" cy="434340"/>
          </a:xfrm>
          <a:prstGeom prst="rect">
            <a:avLst/>
          </a:prstGeom>
        </p:spPr>
        <p:txBody>
          <a:bodyPr wrap="square">
            <a:noAutofit/>
          </a:bodyPr>
          <a:p>
            <a:pPr>
              <a:defRPr/>
            </a:pPr>
            <a:endParaRPr lang="en-US" sz="1600">
              <a:latin typeface="Arial"/>
              <a:cs typeface="Arial"/>
            </a:endParaRPr>
          </a:p>
        </p:txBody>
      </p:sp>
      <p:sp>
        <p:nvSpPr>
          <p:cNvPr id="442147276" name="Text Box 5"/>
          <p:cNvSpPr txBox="1"/>
          <p:nvPr/>
        </p:nvSpPr>
        <p:spPr bwMode="auto">
          <a:xfrm>
            <a:off x="540385" y="3451860"/>
            <a:ext cx="7860030" cy="1691640"/>
          </a:xfrm>
          <a:prstGeom prst="rect">
            <a:avLst/>
          </a:prstGeom>
          <a:noFill/>
        </p:spPr>
        <p:txBody>
          <a:bodyPr wrap="square" rtlCol="0" anchor="t">
            <a:noAutofit/>
          </a:bodyPr>
          <a:p>
            <a:pPr>
              <a:defRPr/>
            </a:pPr>
            <a:r>
              <a:rPr lang="en-US" sz="1600" b="1">
                <a:latin typeface="Arial"/>
                <a:cs typeface="Arial"/>
              </a:rPr>
              <a:t>6. Focus Score Computation </a:t>
            </a:r>
            <a:endParaRPr lang="en-US" sz="1600" b="1">
              <a:latin typeface="Arial"/>
              <a:cs typeface="Arial"/>
            </a:endParaRPr>
          </a:p>
          <a:p>
            <a:pPr>
              <a:defRPr/>
            </a:pPr>
            <a:r>
              <a:rPr lang="en-US" sz="1600"/>
              <a:t>    The system generates a dynamic Focus Score (0–100%) based on:</a:t>
            </a:r>
            <a:endParaRPr lang="en-US" sz="1600"/>
          </a:p>
          <a:p>
            <a:pPr>
              <a:defRPr/>
            </a:pPr>
            <a:r>
              <a:rPr lang="en-US" sz="1600"/>
              <a:t>   </a:t>
            </a:r>
            <a:r>
              <a:rPr lang="en-US" sz="1600" b="1">
                <a:latin typeface="Arial"/>
                <a:cs typeface="Arial"/>
              </a:rPr>
              <a:t> i.   Eye gaze stability</a:t>
            </a:r>
            <a:endParaRPr lang="en-US" sz="1600" b="1">
              <a:latin typeface="Arial"/>
              <a:cs typeface="Arial"/>
            </a:endParaRPr>
          </a:p>
          <a:p>
            <a:pPr>
              <a:defRPr/>
            </a:pPr>
            <a:r>
              <a:rPr lang="en-US" sz="1600" b="1">
                <a:latin typeface="Arial"/>
                <a:cs typeface="Arial"/>
              </a:rPr>
              <a:t>    ii.  Duration of screen engagement</a:t>
            </a:r>
            <a:endParaRPr lang="en-US" sz="1600" b="1">
              <a:latin typeface="Arial"/>
              <a:cs typeface="Arial"/>
            </a:endParaRPr>
          </a:p>
          <a:p>
            <a:pPr>
              <a:defRPr/>
            </a:pPr>
            <a:r>
              <a:rPr lang="en-US" sz="1600" b="1">
                <a:latin typeface="Arial"/>
                <a:cs typeface="Arial"/>
              </a:rPr>
              <a:t>    iii. Head pose consistency</a:t>
            </a:r>
            <a:endParaRPr lang="en-US" sz="1600" b="1">
              <a:latin typeface="Arial"/>
              <a:cs typeface="Arial"/>
            </a:endParaRPr>
          </a:p>
          <a:p>
            <a:pPr>
              <a:defRPr/>
            </a:pPr>
            <a:r>
              <a:rPr lang="en-US" sz="1600" b="1">
                <a:latin typeface="Arial"/>
                <a:cs typeface="Arial"/>
              </a:rPr>
              <a:t>    iv. Distraction frequency</a:t>
            </a:r>
            <a:endParaRPr lang="en-US" sz="1600" b="1">
              <a:latin typeface="Arial"/>
              <a:cs typeface="Arial"/>
            </a:endParaRPr>
          </a:p>
          <a:p>
            <a:pPr>
              <a:defRPr/>
            </a:pPr>
            <a:r>
              <a:rPr lang="en-US" sz="1600">
                <a:latin typeface="Arial"/>
                <a:cs typeface="Arial"/>
              </a:rPr>
              <a:t>    </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7780453"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2098678882" name="Title 1"/>
          <p:cNvSpPr>
            <a:spLocks noGrp="1"/>
          </p:cNvSpPr>
          <p:nvPr>
            <p:ph type="title" idx="4294967295"/>
          </p:nvPr>
        </p:nvSpPr>
        <p:spPr bwMode="auto">
          <a:xfrm>
            <a:off x="2064385" y="0"/>
            <a:ext cx="11789410" cy="1229995"/>
          </a:xfrm>
        </p:spPr>
        <p:txBody>
          <a:bodyPr>
            <a:normAutofit/>
          </a:bodyPr>
          <a:lstStyle/>
          <a:p>
            <a:pPr>
              <a:defRPr/>
            </a:pPr>
            <a:r>
              <a:rPr lang="en-US" sz="3200" b="1"/>
              <a:t>Proposed Methodology </a:t>
            </a:r>
            <a:endParaRPr lang="en-US" sz="3200" b="1"/>
          </a:p>
        </p:txBody>
      </p:sp>
      <p:sp>
        <p:nvSpPr>
          <p:cNvPr id="672190779" name="Text Box 3"/>
          <p:cNvSpPr txBox="1"/>
          <p:nvPr/>
        </p:nvSpPr>
        <p:spPr bwMode="auto">
          <a:xfrm>
            <a:off x="539115" y="868680"/>
            <a:ext cx="7859394" cy="1390015"/>
          </a:xfrm>
          <a:prstGeom prst="rect">
            <a:avLst/>
          </a:prstGeom>
        </p:spPr>
        <p:txBody>
          <a:bodyPr>
            <a:noAutofit/>
          </a:bodyPr>
          <a:p>
            <a:pPr>
              <a:defRPr/>
            </a:pPr>
            <a:r>
              <a:rPr lang="en-US" sz="1600" b="1">
                <a:latin typeface="Arial"/>
                <a:cs typeface="Arial"/>
              </a:rPr>
              <a:t>7. Real-Time Alerts &amp; Notifications</a:t>
            </a:r>
            <a:endParaRPr lang="en-US" sz="1600" b="1">
              <a:latin typeface="Arial"/>
              <a:cs typeface="Arial"/>
            </a:endParaRPr>
          </a:p>
          <a:p>
            <a:pPr>
              <a:defRPr/>
            </a:pPr>
            <a:r>
              <a:rPr lang="en-US" sz="1600"/>
              <a:t>    If the focus score drops below a threshold, the system sends instant alerts such </a:t>
            </a:r>
            <a:endParaRPr lang="en-US" sz="1600"/>
          </a:p>
          <a:p>
            <a:pPr>
              <a:defRPr/>
            </a:pPr>
            <a:r>
              <a:rPr lang="en-US" sz="1600"/>
              <a:t>    as:</a:t>
            </a:r>
            <a:endParaRPr lang="en-US" sz="1600"/>
          </a:p>
          <a:p>
            <a:pPr>
              <a:defRPr/>
            </a:pPr>
            <a:r>
              <a:rPr lang="en-US" sz="1600"/>
              <a:t>    “Focus dropped by 20%”</a:t>
            </a:r>
            <a:endParaRPr lang="en-US" sz="1600"/>
          </a:p>
          <a:p>
            <a:pPr>
              <a:defRPr/>
            </a:pPr>
            <a:r>
              <a:rPr lang="en-US" sz="1600"/>
              <a:t>    “You looked away 5 times in 10 minutes”</a:t>
            </a:r>
            <a:endParaRPr lang="en-US" sz="1600"/>
          </a:p>
          <a:p>
            <a:pPr>
              <a:defRPr/>
            </a:pPr>
            <a:r>
              <a:rPr lang="en-US" sz="1600"/>
              <a:t>    </a:t>
            </a:r>
            <a:endParaRPr lang="en-US" sz="1600">
              <a:latin typeface="Arial"/>
              <a:cs typeface="Arial"/>
            </a:endParaRPr>
          </a:p>
        </p:txBody>
      </p:sp>
      <p:sp>
        <p:nvSpPr>
          <p:cNvPr id="167199032" name="Text Box 4"/>
          <p:cNvSpPr txBox="1"/>
          <p:nvPr/>
        </p:nvSpPr>
        <p:spPr bwMode="auto">
          <a:xfrm>
            <a:off x="539115" y="3912870"/>
            <a:ext cx="7860030" cy="434340"/>
          </a:xfrm>
          <a:prstGeom prst="rect">
            <a:avLst/>
          </a:prstGeom>
        </p:spPr>
        <p:txBody>
          <a:bodyPr wrap="square">
            <a:noAutofit/>
          </a:bodyPr>
          <a:p>
            <a:pPr>
              <a:defRPr/>
            </a:pPr>
            <a:endParaRPr lang="en-US" sz="1600">
              <a:latin typeface="Arial"/>
              <a:cs typeface="Arial"/>
            </a:endParaRPr>
          </a:p>
        </p:txBody>
      </p:sp>
      <p:sp>
        <p:nvSpPr>
          <p:cNvPr id="1076733035" name="Text Box 5"/>
          <p:cNvSpPr txBox="1"/>
          <p:nvPr/>
        </p:nvSpPr>
        <p:spPr bwMode="auto">
          <a:xfrm>
            <a:off x="538480" y="2258695"/>
            <a:ext cx="7860030" cy="1814195"/>
          </a:xfrm>
          <a:prstGeom prst="rect">
            <a:avLst/>
          </a:prstGeom>
          <a:noFill/>
        </p:spPr>
        <p:txBody>
          <a:bodyPr wrap="square" rtlCol="0" anchor="t">
            <a:noAutofit/>
          </a:bodyPr>
          <a:p>
            <a:pPr>
              <a:defRPr/>
            </a:pPr>
            <a:r>
              <a:rPr lang="en-US" sz="1600" b="1">
                <a:latin typeface="Arial"/>
                <a:cs typeface="Arial"/>
              </a:rPr>
              <a:t>8. Visualization Dashboard (Flask Web App)</a:t>
            </a:r>
            <a:endParaRPr lang="en-US" sz="1600" b="1">
              <a:latin typeface="Arial"/>
              <a:cs typeface="Arial"/>
            </a:endParaRPr>
          </a:p>
          <a:p>
            <a:pPr>
              <a:defRPr/>
            </a:pPr>
            <a:r>
              <a:rPr lang="en-US" sz="1600"/>
              <a:t>    The dashboard displays:</a:t>
            </a:r>
            <a:endParaRPr lang="en-US" sz="1600"/>
          </a:p>
          <a:p>
            <a:pPr>
              <a:defRPr/>
            </a:pPr>
            <a:r>
              <a:rPr lang="en-US" sz="1600"/>
              <a:t>   </a:t>
            </a:r>
            <a:r>
              <a:rPr lang="en-US" sz="1600">
                <a:latin typeface="Arial"/>
                <a:cs typeface="Arial"/>
              </a:rPr>
              <a:t> i.   Live focus percentage</a:t>
            </a:r>
            <a:endParaRPr lang="en-US" sz="1600">
              <a:latin typeface="Arial"/>
              <a:cs typeface="Arial"/>
            </a:endParaRPr>
          </a:p>
          <a:p>
            <a:pPr>
              <a:defRPr/>
            </a:pPr>
            <a:r>
              <a:rPr lang="en-US" sz="1600">
                <a:latin typeface="Arial"/>
                <a:cs typeface="Arial"/>
              </a:rPr>
              <a:t>    ii.  Distraction count</a:t>
            </a:r>
            <a:endParaRPr lang="en-US" sz="1600">
              <a:latin typeface="Arial"/>
              <a:cs typeface="Arial"/>
            </a:endParaRPr>
          </a:p>
          <a:p>
            <a:pPr>
              <a:defRPr/>
            </a:pPr>
            <a:r>
              <a:rPr lang="en-US" sz="1600">
                <a:latin typeface="Arial"/>
                <a:cs typeface="Arial"/>
              </a:rPr>
              <a:t>    iii. Attention timeline graph</a:t>
            </a:r>
            <a:endParaRPr lang="en-US" sz="1600">
              <a:latin typeface="Arial"/>
              <a:cs typeface="Arial"/>
            </a:endParaRPr>
          </a:p>
          <a:p>
            <a:pPr>
              <a:defRPr/>
            </a:pPr>
            <a:r>
              <a:rPr lang="en-US" sz="1600" b="1">
                <a:latin typeface="Arial"/>
                <a:cs typeface="Arial"/>
              </a:rPr>
              <a:t>    </a:t>
            </a:r>
            <a:r>
              <a:rPr lang="en-US" sz="1600">
                <a:latin typeface="Arial"/>
                <a:cs typeface="Arial"/>
              </a:rPr>
              <a:t>iv.</a:t>
            </a:r>
            <a:r>
              <a:rPr lang="en-US" sz="1600" b="1">
                <a:latin typeface="Arial"/>
                <a:cs typeface="Arial"/>
              </a:rPr>
              <a:t> </a:t>
            </a:r>
            <a:r>
              <a:rPr lang="en-US" sz="1600">
                <a:latin typeface="Arial"/>
                <a:cs typeface="Arial"/>
              </a:rPr>
              <a:t>Session summary</a:t>
            </a:r>
            <a:r>
              <a:rPr lang="en-US" sz="1600">
                <a:latin typeface="Arial"/>
                <a:cs typeface="Arial"/>
              </a:rPr>
              <a:t>    </a:t>
            </a:r>
            <a:endParaRPr lang="en-US" sz="1600">
              <a:latin typeface="Arial"/>
              <a:cs typeface="Arial"/>
            </a:endParaRPr>
          </a:p>
          <a:p>
            <a:pPr>
              <a:defRPr/>
            </a:pPr>
            <a:r>
              <a:rPr lang="en-US" sz="1600">
                <a:latin typeface="Arial"/>
                <a:cs typeface="Arial"/>
              </a:rPr>
              <a:t>    v.  Historical trends (daily/weekly)</a:t>
            </a:r>
            <a:endParaRPr lang="en-US" sz="1600">
              <a:latin typeface="Arial"/>
              <a:cs typeface="Arial"/>
            </a:endParaRPr>
          </a:p>
        </p:txBody>
      </p:sp>
      <p:sp>
        <p:nvSpPr>
          <p:cNvPr id="1962546639" name="Text Box 6"/>
          <p:cNvSpPr txBox="1"/>
          <p:nvPr/>
        </p:nvSpPr>
        <p:spPr bwMode="auto">
          <a:xfrm>
            <a:off x="540385" y="4072890"/>
            <a:ext cx="7858760" cy="829944"/>
          </a:xfrm>
          <a:prstGeom prst="rect">
            <a:avLst/>
          </a:prstGeom>
        </p:spPr>
        <p:txBody>
          <a:bodyPr wrap="square">
            <a:spAutoFit/>
          </a:bodyPr>
          <a:p>
            <a:pPr>
              <a:defRPr/>
            </a:pPr>
            <a:r>
              <a:rPr lang="en-US" sz="1600" b="1">
                <a:latin typeface="Arial"/>
                <a:cs typeface="Arial"/>
              </a:rPr>
              <a:t>9. Logging &amp; Data Storage</a:t>
            </a:r>
            <a:endParaRPr lang="en-US" sz="1600" b="1">
              <a:latin typeface="Arial"/>
              <a:cs typeface="Arial"/>
            </a:endParaRPr>
          </a:p>
          <a:p>
            <a:pPr>
              <a:defRPr/>
            </a:pPr>
            <a:r>
              <a:rPr lang="en-US" sz="1600" b="1">
                <a:latin typeface="Arial"/>
                <a:cs typeface="Arial"/>
              </a:rPr>
              <a:t> </a:t>
            </a:r>
            <a:r>
              <a:rPr lang="en-US" sz="1600">
                <a:latin typeface="Arial"/>
                <a:cs typeface="Arial"/>
              </a:rPr>
              <a:t>   </a:t>
            </a:r>
            <a:r>
              <a:rPr lang="en-US" sz="1600">
                <a:latin typeface="Arial"/>
                <a:cs typeface="Arial"/>
              </a:rPr>
              <a:t>Distraction logs, timestamps, and focus scores stored locally.</a:t>
            </a:r>
            <a:endParaRPr lang="en-US" sz="1600">
              <a:latin typeface="Arial"/>
              <a:cs typeface="Arial"/>
            </a:endParaRPr>
          </a:p>
          <a:p>
            <a:pPr>
              <a:defRPr/>
            </a:pPr>
            <a:r>
              <a:rPr lang="en-US" sz="1600">
                <a:latin typeface="Arial"/>
                <a:cs typeface="Arial"/>
              </a:rPr>
              <a:t>    Enables long-term behavior analysis.</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8026951"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1244273535" name="Title 1"/>
          <p:cNvSpPr>
            <a:spLocks noGrp="1"/>
          </p:cNvSpPr>
          <p:nvPr>
            <p:ph type="title" idx="4294967295"/>
          </p:nvPr>
        </p:nvSpPr>
        <p:spPr bwMode="auto">
          <a:xfrm>
            <a:off x="2064385" y="0"/>
            <a:ext cx="11789410" cy="1229995"/>
          </a:xfrm>
        </p:spPr>
        <p:txBody>
          <a:bodyPr>
            <a:normAutofit/>
          </a:bodyPr>
          <a:lstStyle/>
          <a:p>
            <a:pPr>
              <a:defRPr/>
            </a:pPr>
            <a:r>
              <a:rPr lang="en-US" sz="3200" b="1"/>
              <a:t>Hardware Requirements </a:t>
            </a:r>
            <a:endParaRPr lang="en-US" sz="3200" b="1"/>
          </a:p>
        </p:txBody>
      </p:sp>
      <p:sp>
        <p:nvSpPr>
          <p:cNvPr id="1847003769" name="Text Box 3"/>
          <p:cNvSpPr txBox="1"/>
          <p:nvPr/>
        </p:nvSpPr>
        <p:spPr bwMode="auto">
          <a:xfrm>
            <a:off x="539115" y="868680"/>
            <a:ext cx="7859394" cy="1390015"/>
          </a:xfrm>
          <a:prstGeom prst="rect">
            <a:avLst/>
          </a:prstGeom>
        </p:spPr>
        <p:txBody>
          <a:bodyPr>
            <a:noAutofit/>
          </a:bodyPr>
          <a:p>
            <a:pPr>
              <a:defRPr/>
            </a:pPr>
            <a:r>
              <a:rPr lang="en-US" sz="1600" b="1">
                <a:latin typeface="Arial"/>
                <a:cs typeface="Arial"/>
              </a:rPr>
              <a:t>1. Laptop / Desktop System</a:t>
            </a:r>
            <a:endParaRPr lang="en-US" sz="1600" b="1">
              <a:latin typeface="Arial"/>
              <a:cs typeface="Arial"/>
            </a:endParaRPr>
          </a:p>
          <a:p>
            <a:pPr>
              <a:defRPr/>
            </a:pPr>
            <a:r>
              <a:rPr lang="en-US" sz="1600"/>
              <a:t>    Processor: Intel i5 / Ryzen 5 or higher</a:t>
            </a:r>
            <a:endParaRPr lang="en-US" sz="1600"/>
          </a:p>
          <a:p>
            <a:pPr>
              <a:defRPr/>
            </a:pPr>
            <a:r>
              <a:rPr lang="en-US" sz="1600"/>
              <a:t>    RAM: 8 GB minimum (16 GB recommended)</a:t>
            </a:r>
            <a:endParaRPr lang="en-US" sz="1600"/>
          </a:p>
          <a:p>
            <a:pPr>
              <a:defRPr/>
            </a:pPr>
            <a:r>
              <a:rPr lang="en-US" sz="1600"/>
              <a:t>    Storage: 256 GB SSD or higher</a:t>
            </a:r>
            <a:endParaRPr lang="en-US" sz="1600"/>
          </a:p>
          <a:p>
            <a:pPr>
              <a:defRPr/>
            </a:pPr>
            <a:r>
              <a:rPr lang="en-US" sz="1600"/>
              <a:t>    GPU (Optional but beneficial):</a:t>
            </a:r>
            <a:endParaRPr lang="en-US" sz="1600"/>
          </a:p>
          <a:p>
            <a:pPr>
              <a:defRPr/>
            </a:pPr>
            <a:r>
              <a:rPr lang="en-US" sz="1600"/>
              <a:t>    Operating System:</a:t>
            </a:r>
            <a:endParaRPr lang="en-US" sz="1600"/>
          </a:p>
          <a:p>
            <a:pPr>
              <a:defRPr/>
            </a:pPr>
            <a:r>
              <a:rPr lang="en-US" sz="1600"/>
              <a:t>    </a:t>
            </a:r>
            <a:endParaRPr lang="en-US" sz="1600">
              <a:latin typeface="Arial"/>
              <a:cs typeface="Arial"/>
            </a:endParaRPr>
          </a:p>
        </p:txBody>
      </p:sp>
      <p:sp>
        <p:nvSpPr>
          <p:cNvPr id="1216378281" name="Text Box 4"/>
          <p:cNvSpPr txBox="1"/>
          <p:nvPr/>
        </p:nvSpPr>
        <p:spPr bwMode="auto">
          <a:xfrm>
            <a:off x="539115" y="3912870"/>
            <a:ext cx="7860030" cy="434340"/>
          </a:xfrm>
          <a:prstGeom prst="rect">
            <a:avLst/>
          </a:prstGeom>
        </p:spPr>
        <p:txBody>
          <a:bodyPr wrap="square">
            <a:noAutofit/>
          </a:bodyPr>
          <a:p>
            <a:pPr>
              <a:defRPr/>
            </a:pPr>
            <a:endParaRPr lang="en-US" sz="1600">
              <a:latin typeface="Arial"/>
              <a:cs typeface="Arial"/>
            </a:endParaRPr>
          </a:p>
        </p:txBody>
      </p:sp>
      <p:sp>
        <p:nvSpPr>
          <p:cNvPr id="1921563637" name="Text Box 5"/>
          <p:cNvSpPr txBox="1"/>
          <p:nvPr/>
        </p:nvSpPr>
        <p:spPr bwMode="auto">
          <a:xfrm>
            <a:off x="538480" y="2447925"/>
            <a:ext cx="7860030" cy="1814195"/>
          </a:xfrm>
          <a:prstGeom prst="rect">
            <a:avLst/>
          </a:prstGeom>
          <a:noFill/>
        </p:spPr>
        <p:txBody>
          <a:bodyPr wrap="square" rtlCol="0" anchor="t">
            <a:noAutofit/>
          </a:bodyPr>
          <a:p>
            <a:pPr>
              <a:defRPr/>
            </a:pPr>
            <a:r>
              <a:rPr lang="en-US" sz="1600" b="1">
                <a:latin typeface="Arial"/>
                <a:cs typeface="Arial"/>
              </a:rPr>
              <a:t>2. Webcam</a:t>
            </a:r>
            <a:endParaRPr lang="en-US" sz="1600" b="1">
              <a:latin typeface="Arial"/>
              <a:cs typeface="Arial"/>
            </a:endParaRPr>
          </a:p>
          <a:p>
            <a:pPr>
              <a:defRPr/>
            </a:pPr>
            <a:r>
              <a:rPr lang="en-US" sz="1600"/>
              <a:t>    Integrated or external HD webcam (720p/1080p)</a:t>
            </a:r>
            <a:endParaRPr lang="en-US" sz="1600"/>
          </a:p>
          <a:p>
            <a:pPr>
              <a:defRPr/>
            </a:pPr>
            <a:r>
              <a:rPr lang="en-US" sz="1600"/>
              <a:t>   </a:t>
            </a:r>
            <a:r>
              <a:rPr lang="en-US" sz="1600">
                <a:latin typeface="Arial"/>
                <a:cs typeface="Arial"/>
              </a:rPr>
              <a:t> Required for real-time eye-gaze tracking and head-pose estimation</a:t>
            </a:r>
            <a:endParaRPr lang="en-US" sz="1600">
              <a:latin typeface="Arial"/>
              <a:cs typeface="Arial"/>
            </a:endParaRPr>
          </a:p>
          <a:p>
            <a:pPr>
              <a:defRPr/>
            </a:pPr>
            <a:r>
              <a:rPr lang="en-US" sz="1600">
                <a:latin typeface="Arial"/>
                <a:cs typeface="Arial"/>
              </a:rPr>
              <a:t>   </a:t>
            </a:r>
            <a:endParaRPr lang="en-US" sz="1600">
              <a:latin typeface="Arial"/>
              <a:cs typeface="Arial"/>
            </a:endParaRPr>
          </a:p>
          <a:p>
            <a:pPr>
              <a:defRPr/>
            </a:pPr>
            <a:r>
              <a:rPr lang="en-US" sz="1600" b="1">
                <a:latin typeface="Arial"/>
                <a:cs typeface="Arial"/>
              </a:rPr>
              <a:t>3. Stable Lighting Environment</a:t>
            </a:r>
            <a:endParaRPr lang="en-US" sz="1600" b="1">
              <a:latin typeface="Arial"/>
              <a:cs typeface="Arial"/>
            </a:endParaRPr>
          </a:p>
          <a:p>
            <a:pPr>
              <a:defRPr/>
            </a:pPr>
            <a:r>
              <a:rPr lang="en-US" sz="1600" b="1">
                <a:latin typeface="Arial"/>
                <a:cs typeface="Arial"/>
              </a:rPr>
              <a:t>    </a:t>
            </a:r>
            <a:r>
              <a:rPr lang="en-US" sz="1600">
                <a:latin typeface="Arial"/>
                <a:cs typeface="Arial"/>
              </a:rPr>
              <a:t>Adequate ambient lighting for accurate facial landmark detection</a:t>
            </a:r>
            <a:r>
              <a:rPr lang="en-US" sz="1600">
                <a:latin typeface="Arial"/>
                <a:cs typeface="Arial"/>
              </a:rPr>
              <a:t>    </a:t>
            </a:r>
            <a:endParaRPr lang="en-US" sz="1600">
              <a:latin typeface="Arial"/>
              <a:cs typeface="Arial"/>
            </a:endParaRPr>
          </a:p>
          <a:p>
            <a:pPr>
              <a:defRPr/>
            </a:pPr>
            <a:r>
              <a:rPr lang="en-US" sz="1600">
                <a:latin typeface="Arial"/>
                <a:cs typeface="Arial"/>
              </a:rPr>
              <a:t>    Reduces noise in gaze and pose estimation</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6200764"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1195685056" name="Title 1"/>
          <p:cNvSpPr>
            <a:spLocks noGrp="1"/>
          </p:cNvSpPr>
          <p:nvPr>
            <p:ph type="title" idx="4294967295"/>
          </p:nvPr>
        </p:nvSpPr>
        <p:spPr bwMode="auto">
          <a:xfrm>
            <a:off x="2064385" y="0"/>
            <a:ext cx="11789410" cy="1229995"/>
          </a:xfrm>
        </p:spPr>
        <p:txBody>
          <a:bodyPr>
            <a:normAutofit/>
          </a:bodyPr>
          <a:lstStyle/>
          <a:p>
            <a:pPr>
              <a:defRPr/>
            </a:pPr>
            <a:r>
              <a:rPr lang="en-US" sz="3200" b="1"/>
              <a:t>Software Requirements </a:t>
            </a:r>
            <a:endParaRPr lang="en-US" sz="3200" b="1"/>
          </a:p>
        </p:txBody>
      </p:sp>
      <p:sp>
        <p:nvSpPr>
          <p:cNvPr id="1323051896" name="Text Box 3"/>
          <p:cNvSpPr txBox="1"/>
          <p:nvPr/>
        </p:nvSpPr>
        <p:spPr bwMode="auto">
          <a:xfrm>
            <a:off x="539115" y="868680"/>
            <a:ext cx="7859394" cy="3908425"/>
          </a:xfrm>
          <a:prstGeom prst="rect">
            <a:avLst/>
          </a:prstGeom>
        </p:spPr>
        <p:txBody>
          <a:bodyPr>
            <a:noAutofit/>
          </a:bodyPr>
          <a:p>
            <a:pPr>
              <a:defRPr/>
            </a:pPr>
            <a:r>
              <a:rPr lang="en-US" sz="1600" b="1">
                <a:latin typeface="Arial"/>
                <a:cs typeface="Arial"/>
              </a:rPr>
              <a:t>1. Programming Languages</a:t>
            </a:r>
            <a:endParaRPr lang="en-US" sz="1600" b="1">
              <a:latin typeface="Arial"/>
              <a:cs typeface="Arial"/>
            </a:endParaRPr>
          </a:p>
          <a:p>
            <a:pPr>
              <a:defRPr/>
            </a:pPr>
            <a:r>
              <a:rPr lang="en-US" sz="1600"/>
              <a:t>    Python 3.8+</a:t>
            </a:r>
            <a:endParaRPr lang="en-US" sz="1600"/>
          </a:p>
          <a:p>
            <a:pPr>
              <a:defRPr/>
            </a:pPr>
            <a:r>
              <a:rPr lang="en-US" sz="1600" b="1">
                <a:latin typeface="Arial"/>
                <a:cs typeface="Arial"/>
              </a:rPr>
              <a:t>2. Python Libraries / Frameworks</a:t>
            </a:r>
            <a:endParaRPr lang="en-US" sz="1600" b="1">
              <a:latin typeface="Arial"/>
              <a:cs typeface="Arial"/>
            </a:endParaRPr>
          </a:p>
          <a:p>
            <a:pPr>
              <a:defRPr/>
            </a:pPr>
            <a:r>
              <a:rPr lang="en-US" sz="1600"/>
              <a:t>    OpenCV – real-time video processing</a:t>
            </a:r>
            <a:endParaRPr lang="en-US" sz="1600"/>
          </a:p>
          <a:p>
            <a:pPr>
              <a:defRPr/>
            </a:pPr>
            <a:r>
              <a:rPr lang="en-US" sz="1600"/>
              <a:t>    MediaPipe – facial landmark and eye-gaze extraction</a:t>
            </a:r>
            <a:endParaRPr lang="en-US" sz="1600"/>
          </a:p>
          <a:p>
            <a:pPr>
              <a:defRPr/>
            </a:pPr>
            <a:r>
              <a:rPr lang="en-US" sz="1600"/>
              <a:t>    TensorFlow / Keras – CNN + LSTM deep learning model</a:t>
            </a:r>
            <a:endParaRPr lang="en-US" sz="1600"/>
          </a:p>
          <a:p>
            <a:pPr>
              <a:defRPr/>
            </a:pPr>
            <a:r>
              <a:rPr lang="en-US" sz="1600"/>
              <a:t>    NumPy, Pandas – data processing</a:t>
            </a:r>
            <a:endParaRPr lang="en-US" sz="1600"/>
          </a:p>
          <a:p>
            <a:pPr>
              <a:defRPr/>
            </a:pPr>
            <a:r>
              <a:rPr lang="en-US" sz="1600"/>
              <a:t>    Matplotlib / Seaborn – data visualization</a:t>
            </a:r>
            <a:endParaRPr lang="en-US" sz="1600"/>
          </a:p>
          <a:p>
            <a:pPr>
              <a:defRPr/>
            </a:pPr>
            <a:r>
              <a:rPr lang="en-US" sz="1600"/>
              <a:t>    scikit-learn – preprocessing, model evaluation</a:t>
            </a:r>
            <a:endParaRPr lang="en-US" sz="1600"/>
          </a:p>
          <a:p>
            <a:pPr>
              <a:defRPr/>
            </a:pPr>
            <a:r>
              <a:rPr lang="en-US" sz="1600" b="1">
                <a:latin typeface="Arial"/>
                <a:cs typeface="Arial"/>
              </a:rPr>
              <a:t>3. Backend &amp; Model Deployment</a:t>
            </a:r>
            <a:endParaRPr lang="en-US" sz="1600" b="1">
              <a:latin typeface="Arial"/>
              <a:cs typeface="Arial"/>
            </a:endParaRPr>
          </a:p>
          <a:p>
            <a:pPr>
              <a:defRPr/>
            </a:pPr>
            <a:r>
              <a:rPr lang="en-US" sz="1600"/>
              <a:t>    </a:t>
            </a:r>
            <a:r>
              <a:rPr lang="en-US" sz="1600">
                <a:latin typeface="Arial"/>
                <a:cs typeface="Arial"/>
              </a:rPr>
              <a:t>Flask Framework – dashboard, visualization, REST APIs</a:t>
            </a:r>
            <a:endParaRPr lang="en-US" sz="1600">
              <a:latin typeface="Arial"/>
              <a:cs typeface="Arial"/>
            </a:endParaRPr>
          </a:p>
          <a:p>
            <a:pPr>
              <a:defRPr/>
            </a:pPr>
            <a:r>
              <a:rPr lang="en-US" sz="1600">
                <a:latin typeface="Arial"/>
                <a:cs typeface="Arial"/>
              </a:rPr>
              <a:t>    Jupyter Notebook / VS Code – development environment</a:t>
            </a:r>
            <a:endParaRPr lang="en-US" sz="1600">
              <a:latin typeface="Arial"/>
              <a:cs typeface="Arial"/>
            </a:endParaRPr>
          </a:p>
          <a:p>
            <a:pPr>
              <a:defRPr/>
            </a:pPr>
            <a:r>
              <a:rPr lang="en-US" sz="1600">
                <a:latin typeface="Arial"/>
                <a:cs typeface="Arial"/>
              </a:rPr>
              <a:t>    Anaconda (optional) – environment management</a:t>
            </a:r>
            <a:endParaRPr lang="en-US" sz="1600">
              <a:latin typeface="Arial"/>
              <a:cs typeface="Arial"/>
            </a:endParaRPr>
          </a:p>
          <a:p>
            <a:pPr>
              <a:defRPr/>
            </a:pPr>
            <a:r>
              <a:rPr lang="en-US" sz="1600" b="1">
                <a:latin typeface="Arial"/>
                <a:cs typeface="Arial"/>
              </a:rPr>
              <a:t>4. Version Control</a:t>
            </a:r>
            <a:endParaRPr lang="en-US" sz="1600" b="1">
              <a:latin typeface="Arial"/>
              <a:cs typeface="Arial"/>
            </a:endParaRPr>
          </a:p>
          <a:p>
            <a:pPr>
              <a:defRPr/>
            </a:pPr>
            <a:r>
              <a:rPr lang="en-US" sz="1600" b="1">
                <a:latin typeface="Arial"/>
                <a:cs typeface="Arial"/>
              </a:rPr>
              <a:t>    </a:t>
            </a:r>
            <a:r>
              <a:rPr lang="en-US" sz="1600">
                <a:latin typeface="Arial"/>
                <a:cs typeface="Arial"/>
              </a:rPr>
              <a:t>Git / GitHub – project repository and version management</a:t>
            </a:r>
            <a:endParaRPr lang="en-US"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3689162" name="Rectangle 1"/>
          <p:cNvSpPr/>
          <p:nvPr/>
        </p:nvSpPr>
        <p:spPr bwMode="auto">
          <a:xfrm>
            <a:off x="540385" y="1226820"/>
            <a:ext cx="8087995" cy="2940685"/>
          </a:xfrm>
          <a:prstGeom prst="rect">
            <a:avLst/>
          </a:prstGeom>
        </p:spPr>
        <p:txBody>
          <a:bodyPr wrap="square">
            <a:noAutofit/>
          </a:bodyPr>
          <a:lstStyle/>
          <a:p>
            <a:pPr>
              <a:lnSpc>
                <a:spcPct val="113999"/>
              </a:lnSpc>
              <a:defRPr/>
            </a:pPr>
            <a:endParaRPr lang="en-IN" sz="2400">
              <a:solidFill>
                <a:srgbClr val="16355A"/>
              </a:solidFill>
            </a:endParaRPr>
          </a:p>
          <a:p>
            <a:pPr marL="1905" indent="0">
              <a:lnSpc>
                <a:spcPct val="113999"/>
              </a:lnSpc>
              <a:buFont typeface="Arial"/>
              <a:buNone/>
              <a:defRPr/>
            </a:pPr>
            <a:endParaRPr lang="en-IN" sz="2400">
              <a:solidFill>
                <a:srgbClr val="16355A"/>
              </a:solidFill>
            </a:endParaRPr>
          </a:p>
        </p:txBody>
      </p:sp>
      <p:sp>
        <p:nvSpPr>
          <p:cNvPr id="480870841" name="Title 1"/>
          <p:cNvSpPr>
            <a:spLocks noGrp="1"/>
          </p:cNvSpPr>
          <p:nvPr>
            <p:ph type="title" idx="4294967295"/>
          </p:nvPr>
        </p:nvSpPr>
        <p:spPr bwMode="auto">
          <a:xfrm>
            <a:off x="2064385" y="0"/>
            <a:ext cx="11789410" cy="1229995"/>
          </a:xfrm>
        </p:spPr>
        <p:txBody>
          <a:bodyPr>
            <a:normAutofit/>
          </a:bodyPr>
          <a:lstStyle/>
          <a:p>
            <a:pPr>
              <a:defRPr/>
            </a:pPr>
            <a:r>
              <a:rPr lang="en-US" sz="3200" b="1"/>
              <a:t>REFERENCES </a:t>
            </a:r>
            <a:endParaRPr lang="en-US" sz="3200" b="1"/>
          </a:p>
        </p:txBody>
      </p:sp>
      <p:sp>
        <p:nvSpPr>
          <p:cNvPr id="203723977" name="Text Box 3"/>
          <p:cNvSpPr txBox="1"/>
          <p:nvPr/>
        </p:nvSpPr>
        <p:spPr bwMode="auto">
          <a:xfrm>
            <a:off x="539115" y="868680"/>
            <a:ext cx="7859394" cy="4168774"/>
          </a:xfrm>
          <a:prstGeom prst="rect">
            <a:avLst/>
          </a:prstGeom>
        </p:spPr>
        <p:txBody>
          <a:bodyPr>
            <a:noAutofit/>
          </a:bodyPr>
          <a:p>
            <a:pPr>
              <a:defRPr/>
            </a:pPr>
            <a:r>
              <a:rPr lang="en-US" sz="1200">
                <a:latin typeface="Arial"/>
                <a:cs typeface="Arial"/>
              </a:rPr>
              <a:t>1. A. Recasens, C. Vondrick, A. Torralba, “DeepGaze II: Reading Human Gaze from Images Using Deep Neural </a:t>
            </a:r>
            <a:endParaRPr lang="en-US" sz="1200">
              <a:latin typeface="Arial"/>
              <a:cs typeface="Arial"/>
            </a:endParaRPr>
          </a:p>
          <a:p>
            <a:pPr>
              <a:defRPr/>
            </a:pPr>
            <a:r>
              <a:rPr lang="en-US" sz="1200">
                <a:latin typeface="Arial"/>
                <a:cs typeface="Arial"/>
              </a:rPr>
              <a:t>    Networks,” IEEE TPAMI, vol. 41, no. 6, pp. 1234–1247, Jun. 2019.</a:t>
            </a:r>
            <a:endParaRPr lang="en-US" sz="1200">
              <a:latin typeface="Arial"/>
              <a:cs typeface="Arial"/>
            </a:endParaRPr>
          </a:p>
          <a:p>
            <a:pPr>
              <a:defRPr/>
            </a:pPr>
            <a:r>
              <a:rPr lang="en-US" sz="1200">
                <a:latin typeface="Arial"/>
                <a:cs typeface="Arial"/>
              </a:rPr>
              <a:t>2. F. Zhang, V. Bazarevsky, et al., “MediaPipe Face Mesh: High-Fidelity Facial Landmark Tracking,” ACM   </a:t>
            </a:r>
            <a:endParaRPr lang="en-US" sz="1200">
              <a:latin typeface="Arial"/>
              <a:cs typeface="Arial"/>
            </a:endParaRPr>
          </a:p>
          <a:p>
            <a:pPr>
              <a:defRPr/>
            </a:pPr>
            <a:r>
              <a:rPr lang="en-US" sz="1200">
                <a:latin typeface="Arial"/>
                <a:cs typeface="Arial"/>
              </a:rPr>
              <a:t>    SIGGRAPH, vol. 39, no. 4, pp.1–12, Jul. 2020.</a:t>
            </a:r>
            <a:endParaRPr lang="en-US" sz="1200">
              <a:latin typeface="Arial"/>
              <a:cs typeface="Arial"/>
            </a:endParaRPr>
          </a:p>
          <a:p>
            <a:pPr>
              <a:defRPr/>
            </a:pPr>
            <a:r>
              <a:rPr lang="en-US" sz="1200">
                <a:latin typeface="Arial"/>
                <a:cs typeface="Arial"/>
              </a:rPr>
              <a:t>3. R. Ruiz, et al., “Fine-Grained Head Pose Estimation Without Keypoints,” Proc. IEEE CVPR, pp. 10289–10298,     </a:t>
            </a:r>
            <a:endParaRPr lang="en-US" sz="1200">
              <a:latin typeface="Arial"/>
              <a:cs typeface="Arial"/>
            </a:endParaRPr>
          </a:p>
          <a:p>
            <a:pPr>
              <a:defRPr/>
            </a:pPr>
            <a:r>
              <a:rPr lang="en-US" sz="1200">
                <a:latin typeface="Arial"/>
                <a:cs typeface="Arial"/>
              </a:rPr>
              <a:t>    Jun. 2018.</a:t>
            </a:r>
            <a:endParaRPr lang="en-US" sz="1200">
              <a:latin typeface="Arial"/>
              <a:cs typeface="Arial"/>
            </a:endParaRPr>
          </a:p>
          <a:p>
            <a:pPr>
              <a:defRPr/>
            </a:pPr>
            <a:r>
              <a:rPr lang="en-US" sz="1200">
                <a:latin typeface="Arial"/>
                <a:cs typeface="Arial"/>
              </a:rPr>
              <a:t>4. B. Chen, Y. Zhao, et al., “Student Engagement Detection Using Gaze and Facial Behavior in E-Learning  </a:t>
            </a:r>
            <a:endParaRPr lang="en-US" sz="1200">
              <a:latin typeface="Arial"/>
              <a:cs typeface="Arial"/>
            </a:endParaRPr>
          </a:p>
          <a:p>
            <a:pPr>
              <a:defRPr/>
            </a:pPr>
            <a:r>
              <a:rPr lang="en-US" sz="1200">
                <a:latin typeface="Arial"/>
                <a:cs typeface="Arial"/>
              </a:rPr>
              <a:t>    Environments,” IEEE Access,vol. 8, pp. 217003–217015, Dec. 2020.</a:t>
            </a:r>
            <a:endParaRPr lang="en-US" sz="1200">
              <a:latin typeface="Arial"/>
              <a:cs typeface="Arial"/>
            </a:endParaRPr>
          </a:p>
          <a:p>
            <a:pPr>
              <a:defRPr/>
            </a:pPr>
            <a:r>
              <a:rPr lang="en-US" sz="1200">
                <a:latin typeface="Arial"/>
                <a:cs typeface="Arial"/>
              </a:rPr>
              <a:t>5. M. Mukherjee, S. Singh, “Driver Distraction Detection Using CNN-LSTM Networks,” IEEE Trans. Intelligent </a:t>
            </a:r>
            <a:endParaRPr lang="en-US" sz="1200">
              <a:latin typeface="Arial"/>
              <a:cs typeface="Arial"/>
            </a:endParaRPr>
          </a:p>
          <a:p>
            <a:pPr>
              <a:defRPr/>
            </a:pPr>
            <a:r>
              <a:rPr lang="en-US" sz="1200">
                <a:latin typeface="Arial"/>
                <a:cs typeface="Arial"/>
              </a:rPr>
              <a:t>    Transportation Systems, vol. 22, no. 4, pp. 2451–2462, Apr. 2021.</a:t>
            </a:r>
            <a:endParaRPr lang="en-US" sz="1200">
              <a:latin typeface="Arial"/>
              <a:cs typeface="Arial"/>
            </a:endParaRPr>
          </a:p>
          <a:p>
            <a:pPr>
              <a:defRPr/>
            </a:pPr>
            <a:r>
              <a:rPr lang="en-US" sz="1200">
                <a:latin typeface="Arial"/>
                <a:cs typeface="Arial"/>
              </a:rPr>
              <a:t>6. Y. Zhao, L. Wang, “Spatio-Temporal Attention Models for Human Activity Recognition,” IEEE TIP, vol. 28, no. </a:t>
            </a:r>
            <a:endParaRPr lang="en-US" sz="1200">
              <a:latin typeface="Arial"/>
              <a:cs typeface="Arial"/>
            </a:endParaRPr>
          </a:p>
          <a:p>
            <a:pPr>
              <a:defRPr/>
            </a:pPr>
            <a:r>
              <a:rPr lang="en-US" sz="1200">
                <a:latin typeface="Arial"/>
                <a:cs typeface="Arial"/>
              </a:rPr>
              <a:t>    11, pp. 5590–5602, Nov. 2019.</a:t>
            </a:r>
            <a:endParaRPr lang="en-US" sz="1200">
              <a:latin typeface="Arial"/>
              <a:cs typeface="Arial"/>
            </a:endParaRPr>
          </a:p>
          <a:p>
            <a:pPr>
              <a:defRPr/>
            </a:pPr>
            <a:r>
              <a:rPr lang="en-US" sz="1200">
                <a:latin typeface="Arial"/>
                <a:cs typeface="Arial"/>
              </a:rPr>
              <a:t>7, H. Wu, A. Howard, et al., “MobileNetV3: Searching for Lightweight CNN Architectures for Mobile Vision,” Proc. </a:t>
            </a:r>
            <a:endParaRPr lang="en-US" sz="1200">
              <a:latin typeface="Arial"/>
              <a:cs typeface="Arial"/>
            </a:endParaRPr>
          </a:p>
          <a:p>
            <a:pPr>
              <a:defRPr/>
            </a:pPr>
            <a:r>
              <a:rPr lang="en-US" sz="1200">
                <a:latin typeface="Arial"/>
                <a:cs typeface="Arial"/>
              </a:rPr>
              <a:t>    IEEE ICCV, pp.1314–1324, Oct. 2019.</a:t>
            </a:r>
            <a:endParaRPr lang="en-US" sz="1200">
              <a:latin typeface="Arial"/>
              <a:cs typeface="Arial"/>
            </a:endParaRPr>
          </a:p>
          <a:p>
            <a:pPr>
              <a:defRPr/>
            </a:pPr>
            <a:r>
              <a:rPr lang="en-US" sz="1200">
                <a:latin typeface="Arial"/>
                <a:cs typeface="Arial"/>
              </a:rPr>
              <a:t>8.  K. Kim, R. Mehra, “Eye-Gaze Patterns for Estimating Cognitive Load in Learning Tasks,” Proc. ACM ICMI, pp.</a:t>
            </a:r>
            <a:endParaRPr lang="en-US" sz="1200">
              <a:latin typeface="Arial"/>
              <a:cs typeface="Arial"/>
            </a:endParaRPr>
          </a:p>
          <a:p>
            <a:pPr>
              <a:defRPr/>
            </a:pPr>
            <a:r>
              <a:rPr lang="en-US" sz="1200">
                <a:latin typeface="Arial"/>
                <a:cs typeface="Arial"/>
              </a:rPr>
              <a:t>     265–274, Oct. 2021.</a:t>
            </a:r>
            <a:endParaRPr lang="en-US" sz="1200">
              <a:latin typeface="Arial"/>
              <a:cs typeface="Arial"/>
            </a:endParaRPr>
          </a:p>
          <a:p>
            <a:pPr>
              <a:defRPr/>
            </a:pPr>
            <a:r>
              <a:rPr lang="en-US" sz="1200">
                <a:latin typeface="Arial"/>
                <a:cs typeface="Arial"/>
              </a:rPr>
              <a:t>9.  N. Srivastava, R. Gupta, “Deep Learning-Based Classroom Attention Recognition System,” IEEE Access, vol. </a:t>
            </a:r>
            <a:endParaRPr lang="en-US" sz="1200">
              <a:latin typeface="Arial"/>
              <a:cs typeface="Arial"/>
            </a:endParaRPr>
          </a:p>
          <a:p>
            <a:pPr>
              <a:defRPr/>
            </a:pPr>
            <a:r>
              <a:rPr lang="en-US" sz="1200">
                <a:latin typeface="Arial"/>
                <a:cs typeface="Arial"/>
              </a:rPr>
              <a:t>     10, pp. 51012–51023, May 2022.</a:t>
            </a:r>
            <a:endParaRPr lang="en-US" sz="1200">
              <a:latin typeface="Arial"/>
              <a:cs typeface="Arial"/>
            </a:endParaRPr>
          </a:p>
          <a:p>
            <a:pPr>
              <a:defRPr/>
            </a:pPr>
            <a:r>
              <a:rPr lang="en-US" sz="1200">
                <a:latin typeface="Arial"/>
                <a:cs typeface="Arial"/>
              </a:rPr>
              <a:t>10. S. Hadji, J. S. Zelek, “Temporal Learning for Human Behavior Understanding Using LSTM Networks,” IEEE </a:t>
            </a:r>
            <a:endParaRPr lang="en-US" sz="1200">
              <a:latin typeface="Arial"/>
              <a:cs typeface="Arial"/>
            </a:endParaRPr>
          </a:p>
          <a:p>
            <a:pPr>
              <a:defRPr/>
            </a:pPr>
            <a:r>
              <a:rPr lang="en-US" sz="1200">
                <a:latin typeface="Arial"/>
                <a:cs typeface="Arial"/>
              </a:rPr>
              <a:t>      TPAMI, vol. 43, no. 4, pp. 1328–1342, Apr. 2021.</a:t>
            </a:r>
            <a:endParaRPr lang="en-US" sz="12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ksj</dc:creator>
  <cp:lastModifiedBy/>
  <cp:revision>8</cp:revision>
  <dcterms:created xsi:type="dcterms:W3CDTF">2025-11-20T07:06:12Z</dcterms:created>
  <dcterms:modified xsi:type="dcterms:W3CDTF">2026-01-21T09:56:06Z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9A8C2FC4E62BAF8DCDBD1E696C4A7B79_42</vt:lpwstr>
  </property>
  <property fmtid="{D5CDD505-2E9C-101B-9397-08002B2CF9AE}" pid="3" name="KSOProductBuildVer">
    <vt:lpwstr>1033-12.1.22554.22554</vt:lpwstr>
  </property>
</Properties>
</file>