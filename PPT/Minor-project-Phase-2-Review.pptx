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6" d="100"/>
          <a:sy n="106" d="100"/>
        </p:scale>
        <p:origin x="725" y="72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187793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6695297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16407" name="Google Shape;51;p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753050" name="Google Shape;52;p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947582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233016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356840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865094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513624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437461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371736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811929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301526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73348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52721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732905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696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2333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59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727BA6-94FB-A4F6-5475-5004233BFB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961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00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361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8F217-FDD6-B24D-D0B9-4D6644AB2E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714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076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888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A79990-841D-14A6-D749-D1543E7791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815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5998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555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3D4320-8762-42F0-27FF-FD4414C894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1714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1884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890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1B77D4-7BF1-A597-093B-72FA5B61FD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561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67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473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49C76D-814B-567D-C6A5-0B499ABCDF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377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31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10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F635E8-12DE-4611-C742-943847B677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352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427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744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E8D13A-0E46-980C-84C4-EEC7EC248F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351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644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3313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292272-C9C9-2791-4CDA-EC8DEC1D82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161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9757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744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DDD305-5ABC-88D4-6845-57AB0A27F8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5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6241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404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5CF64A-1D44-F63F-9AC8-73147EA0D6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377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03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2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8DD21A-A503-3386-0561-2FBFF216CC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092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7591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330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6B83F1-589B-0B29-B5B8-53B580E693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397813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581294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872735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371118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026855" name="Google Shape;11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384552947" name="Google Shape;12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481667059" name="Google Shape;13;p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86481657" name="Google Shape;14;p2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3463213" y="4730051"/>
            <a:ext cx="2217574" cy="3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059535" name="Google Shape;16;p3"/>
          <p:cNvSpPr txBox="1">
            <a:spLocks noGrp="1"/>
          </p:cNvSpPr>
          <p:nvPr>
            <p:ph type="title"/>
          </p:nvPr>
        </p:nvSpPr>
        <p:spPr bwMode="auto">
          <a:xfrm>
            <a:off x="391725" y="9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8996757" name="Google Shape;17;p3"/>
          <p:cNvSpPr txBox="1">
            <a:spLocks noGrp="1"/>
          </p:cNvSpPr>
          <p:nvPr>
            <p:ph type="body" idx="1"/>
          </p:nvPr>
        </p:nvSpPr>
        <p:spPr bwMode="auto"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8704223" name="Google Shape;18;p3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32868347" name="Google Shape;19;p3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6983600" y="415175"/>
            <a:ext cx="1974051" cy="30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046231" name="Google Shape;21;p4"/>
          <p:cNvSpPr txBox="1">
            <a:spLocks noGrp="1"/>
          </p:cNvSpPr>
          <p:nvPr>
            <p:ph type="title"/>
          </p:nvPr>
        </p:nvSpPr>
        <p:spPr bwMode="auto"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1864480" name="Google Shape;22;p4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523609700" name="Google Shape;23;p4"/>
          <p:cNvSpPr txBox="1">
            <a:spLocks noGrp="1"/>
          </p:cNvSpPr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91671257" name="Google Shape;24;p4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983567" name="Google Shape;26;p5"/>
          <p:cNvSpPr txBox="1">
            <a:spLocks noGrp="1"/>
          </p:cNvSpPr>
          <p:nvPr>
            <p:ph type="title"/>
          </p:nvPr>
        </p:nvSpPr>
        <p:spPr bwMode="auto"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7502958" name="Google Shape;27;p5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137459" name="Google Shape;29;p6"/>
          <p:cNvSpPr txBox="1">
            <a:spLocks noGrp="1"/>
          </p:cNvSpPr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571176273" name="Google Shape;30;p6"/>
          <p:cNvSpPr txBox="1">
            <a:spLocks noGrp="1"/>
          </p:cNvSpPr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109035882" name="Google Shape;31;p6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55350" name="Google Shape;33;p7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879168786" name="Google Shape;34;p7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732647" name="Google Shape;36;p8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74126611" name="Google Shape;37;p8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225022088" name="Google Shape;38;p8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767272171" name="Google Shape;39;p8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4853776" name="Google Shape;40;p8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877231" name="Google Shape;42;p9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56574737" name="Google Shape;43;p9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873245" name="Google Shape;45;p10"/>
          <p:cNvSpPr txBox="1">
            <a:spLocks noGrp="1"/>
          </p:cNvSpPr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38412601" name="Google Shape;46;p10"/>
          <p:cNvSpPr txBox="1">
            <a:spLocks noGrp="1"/>
          </p:cNvSpPr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5241761" name="Google Shape;47;p10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990842" name="Google Shape;49;p1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blipFill rotWithShape="1">
          <a:blip r:embed="rId1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044947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37203101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92953257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92441513" name="Google Shape;9;p1"/>
          <p:cNvPicPr/>
          <p:nvPr/>
        </p:nvPicPr>
        <p:blipFill rotWithShape="1">
          <a:blip r:embed="rId13">
            <a:alphaModFix/>
          </a:blip>
          <a:stretch/>
        </p:blipFill>
        <p:spPr bwMode="auto"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439086" name="object 2"/>
          <p:cNvSpPr txBox="1">
            <a:spLocks noChangeArrowheads="1"/>
          </p:cNvSpPr>
          <p:nvPr/>
        </p:nvSpPr>
        <p:spPr bwMode="auto">
          <a:xfrm>
            <a:off x="1793174" y="438778"/>
            <a:ext cx="7006441" cy="380873"/>
          </a:xfrm>
          <a:prstGeom prst="rect">
            <a:avLst/>
          </a:prstGeom>
          <a:noFill/>
          <a:ln>
            <a:noFill/>
          </a:ln>
        </p:spPr>
        <p:txBody>
          <a:bodyPr wrap="square" lIns="0" tIns="11430" rIns="0" bIns="0">
            <a:spAutoFit/>
          </a:bodyPr>
          <a:lstStyle>
            <a:lvl1pPr marL="127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1pPr>
            <a:lvl2pPr marL="742950" indent="-28575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2pPr>
            <a:lvl3pPr marL="11430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3pPr>
            <a:lvl4pPr marL="16002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4pPr>
            <a:lvl5pPr marL="20574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9pPr>
          </a:lstStyle>
          <a:p>
            <a:pPr algn="r">
              <a:spcBef>
                <a:spcPts val="88"/>
              </a:spcBef>
              <a:defRPr/>
            </a:pPr>
            <a:r>
              <a:rPr lang="it-IT" sz="2400" b="1">
                <a:solidFill>
                  <a:srgbClr val="002060"/>
                </a:solidFill>
                <a:latin typeface="Helvetica-Bold"/>
                <a:cs typeface="Arial"/>
              </a:rPr>
              <a:t>Department of Master of Computer Applications</a:t>
            </a:r>
            <a:endParaRPr lang="en-US" sz="2400" b="1">
              <a:solidFill>
                <a:srgbClr val="002060"/>
              </a:solidFill>
              <a:latin typeface="Helvetica-Bold"/>
              <a:cs typeface="Arial"/>
            </a:endParaRPr>
          </a:p>
        </p:txBody>
      </p:sp>
      <p:sp>
        <p:nvSpPr>
          <p:cNvPr id="1853981000" name="object 2"/>
          <p:cNvSpPr txBox="1">
            <a:spLocks noChangeArrowheads="1"/>
          </p:cNvSpPr>
          <p:nvPr/>
        </p:nvSpPr>
        <p:spPr bwMode="auto">
          <a:xfrm>
            <a:off x="-1000898" y="1011104"/>
            <a:ext cx="11963400" cy="380873"/>
          </a:xfrm>
          <a:prstGeom prst="rect">
            <a:avLst/>
          </a:prstGeom>
          <a:noFill/>
          <a:ln>
            <a:noFill/>
          </a:ln>
        </p:spPr>
        <p:txBody>
          <a:bodyPr lIns="0" tIns="11430" rIns="0" bIns="0">
            <a:spAutoFit/>
          </a:bodyPr>
          <a:lstStyle>
            <a:lvl1pPr marL="127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1pPr>
            <a:lvl2pPr marL="742950" indent="-28575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2pPr>
            <a:lvl3pPr marL="11430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3pPr>
            <a:lvl4pPr marL="16002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4pPr>
            <a:lvl5pPr marL="20574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9pPr>
          </a:lstStyle>
          <a:p>
            <a:pPr algn="ctr">
              <a:spcBef>
                <a:spcPts val="88"/>
              </a:spcBef>
              <a:defRPr/>
            </a:pPr>
            <a:r>
              <a:rPr lang="en-US" sz="2400" b="1">
                <a:solidFill>
                  <a:srgbClr val="002060"/>
                </a:solidFill>
                <a:latin typeface="Helvetica-Bold"/>
                <a:cs typeface="Arial"/>
              </a:rPr>
              <a:t>Minor Project (</a:t>
            </a:r>
            <a:r>
              <a:rPr lang="en-US" sz="2400" b="1">
                <a:solidFill>
                  <a:srgbClr val="002060"/>
                </a:solidFill>
                <a:latin typeface="Helvetica-Bold"/>
                <a:cs typeface="Arial"/>
              </a:rPr>
              <a:t>MCA461P</a:t>
            </a:r>
            <a:r>
              <a:rPr lang="en-US" sz="2400" b="1"/>
              <a:t>) </a:t>
            </a:r>
            <a:r>
              <a:rPr lang="en-US" sz="2400" b="1">
                <a:solidFill>
                  <a:srgbClr val="002060"/>
                </a:solidFill>
                <a:latin typeface="Helvetica-Bold"/>
                <a:cs typeface="Arial"/>
              </a:rPr>
              <a:t>– Phase-2</a:t>
            </a:r>
            <a:endParaRPr/>
          </a:p>
        </p:txBody>
      </p:sp>
      <p:sp>
        <p:nvSpPr>
          <p:cNvPr id="1335490192" name="object 2"/>
          <p:cNvSpPr txBox="1">
            <a:spLocks noChangeArrowheads="1"/>
          </p:cNvSpPr>
          <p:nvPr/>
        </p:nvSpPr>
        <p:spPr bwMode="auto">
          <a:xfrm>
            <a:off x="1091593" y="1881911"/>
            <a:ext cx="7391159" cy="743310"/>
          </a:xfrm>
          <a:prstGeom prst="rect">
            <a:avLst/>
          </a:prstGeom>
          <a:noFill/>
          <a:ln>
            <a:noFill/>
          </a:ln>
        </p:spPr>
        <p:txBody>
          <a:bodyPr wrap="square" lIns="0" tIns="11430" rIns="0" bIns="0">
            <a:spAutoFit/>
          </a:bodyPr>
          <a:lstStyle>
            <a:lvl1pPr marL="127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1pPr>
            <a:lvl2pPr marL="742950" indent="-28575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2pPr>
            <a:lvl3pPr marL="11430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3pPr>
            <a:lvl4pPr marL="16002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4pPr>
            <a:lvl5pPr marL="20574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9pPr>
          </a:lstStyle>
          <a:p>
            <a:pPr algn="ctr">
              <a:spcBef>
                <a:spcPts val="88"/>
              </a:spcBef>
              <a:defRPr/>
            </a:pPr>
            <a:r>
              <a:rPr lang="en-US" sz="2400" b="1">
                <a:solidFill>
                  <a:srgbClr val="002060"/>
                </a:solidFill>
                <a:latin typeface="Helvetica-Bold"/>
                <a:cs typeface="Arial"/>
              </a:rPr>
              <a:t>FocusSense</a:t>
            </a:r>
            <a:r>
              <a:rPr lang="en-US" sz="2400" b="1">
                <a:solidFill>
                  <a:srgbClr val="002060"/>
                </a:solidFill>
                <a:latin typeface="Helvetica-Bold"/>
                <a:cs typeface="Arial"/>
              </a:rPr>
              <a:t> – </a:t>
            </a:r>
            <a:r>
              <a:rPr lang="en-US" sz="2400" b="1" i="0" u="none" strike="noStrike" cap="none" spc="0">
                <a:solidFill>
                  <a:srgbClr val="002060"/>
                </a:solidFill>
                <a:latin typeface="Helvetica-Bold"/>
                <a:ea typeface="Helvetica-Bold"/>
                <a:cs typeface="Helvetica-Bold"/>
              </a:rPr>
              <a:t>Eye &amp; Head Pose Detection for Study Concentration</a:t>
            </a:r>
            <a:endParaRPr/>
          </a:p>
        </p:txBody>
      </p:sp>
      <p:sp>
        <p:nvSpPr>
          <p:cNvPr id="1472991900" name="object 2"/>
          <p:cNvSpPr txBox="1">
            <a:spLocks noChangeArrowheads="1"/>
          </p:cNvSpPr>
          <p:nvPr/>
        </p:nvSpPr>
        <p:spPr bwMode="auto">
          <a:xfrm>
            <a:off x="0" y="2632116"/>
            <a:ext cx="7604639" cy="948541"/>
          </a:xfrm>
          <a:prstGeom prst="rect">
            <a:avLst/>
          </a:prstGeom>
          <a:noFill/>
          <a:ln>
            <a:noFill/>
          </a:ln>
        </p:spPr>
        <p:txBody>
          <a:bodyPr wrap="square" lIns="0" tIns="11430" rIns="0" bIns="0">
            <a:spAutoFit/>
          </a:bodyPr>
          <a:lstStyle>
            <a:lvl1pPr marL="127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1pPr>
            <a:lvl2pPr marL="742950" indent="-28575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2pPr>
            <a:lvl3pPr marL="11430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3pPr>
            <a:lvl4pPr marL="16002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4pPr>
            <a:lvl5pPr marL="20574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9pPr>
          </a:lstStyle>
          <a:p>
            <a:pPr algn="ctr">
              <a:spcBef>
                <a:spcPts val="88"/>
              </a:spcBef>
              <a:defRPr/>
            </a:pPr>
            <a:endParaRPr lang="en-US" sz="2000" b="1">
              <a:solidFill>
                <a:srgbClr val="002060"/>
              </a:solidFill>
              <a:latin typeface="Helvetica-Bold"/>
              <a:cs typeface="Arial"/>
            </a:endParaRPr>
          </a:p>
          <a:p>
            <a:pPr algn="ctr">
              <a:spcBef>
                <a:spcPts val="88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cs typeface="Arial"/>
              </a:rPr>
              <a:t>Mohit Raj(1RV24MC070)</a:t>
            </a:r>
            <a:endParaRPr/>
          </a:p>
          <a:p>
            <a:pPr algn="ctr">
              <a:spcBef>
                <a:spcPts val="88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cs typeface="Arial"/>
              </a:rPr>
              <a:t>Sameer Patel(1RV24MC091)</a:t>
            </a:r>
            <a:endParaRPr/>
          </a:p>
        </p:txBody>
      </p:sp>
      <p:sp>
        <p:nvSpPr>
          <p:cNvPr id="1197494542" name="Rectangle 5"/>
          <p:cNvSpPr/>
          <p:nvPr/>
        </p:nvSpPr>
        <p:spPr bwMode="auto">
          <a:xfrm>
            <a:off x="4907624" y="3291139"/>
            <a:ext cx="4584240" cy="13445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88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ea typeface="ＭＳ Ｐゴシック"/>
                <a:cs typeface="Arial"/>
              </a:rPr>
              <a:t>Under the Guidance </a:t>
            </a:r>
            <a:endParaRPr/>
          </a:p>
          <a:p>
            <a:pPr algn="ctr">
              <a:spcBef>
                <a:spcPts val="88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ea typeface="ＭＳ Ｐゴシック"/>
                <a:cs typeface="Arial"/>
              </a:rPr>
              <a:t>of</a:t>
            </a:r>
            <a:endParaRPr/>
          </a:p>
          <a:p>
            <a:pPr algn="ctr">
              <a:spcBef>
                <a:spcPts val="88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ea typeface="ＭＳ Ｐゴシック"/>
                <a:cs typeface="Arial"/>
              </a:rPr>
              <a:t>Dr. </a:t>
            </a:r>
            <a:r>
              <a:rPr lang="en-US" sz="2000" b="1">
                <a:solidFill>
                  <a:srgbClr val="002060"/>
                </a:solidFill>
                <a:latin typeface="Helvetica-Bold"/>
                <a:ea typeface="ＭＳ Ｐゴシック"/>
                <a:cs typeface="Arial"/>
              </a:rPr>
              <a:t>Andhe</a:t>
            </a:r>
            <a:r>
              <a:rPr lang="en-US" sz="2000" b="1">
                <a:solidFill>
                  <a:srgbClr val="002060"/>
                </a:solidFill>
                <a:latin typeface="Helvetica-Bold"/>
                <a:ea typeface="ＭＳ Ｐゴシック"/>
                <a:cs typeface="Arial"/>
              </a:rPr>
              <a:t> Dharani</a:t>
            </a:r>
            <a:endParaRPr/>
          </a:p>
          <a:p>
            <a:pPr algn="ctr">
              <a:spcBef>
                <a:spcPts val="87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ea typeface="ＭＳ Ｐゴシック"/>
                <a:cs typeface="Arial"/>
              </a:rPr>
              <a:t>Professor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93155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1836419" y="515600"/>
            <a:ext cx="5334000" cy="61480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Agenda</a:t>
            </a:r>
            <a:endParaRPr/>
          </a:p>
        </p:txBody>
      </p:sp>
      <p:sp>
        <p:nvSpPr>
          <p:cNvPr id="1554057878" name="TextBox 4"/>
          <p:cNvSpPr txBox="1"/>
          <p:nvPr/>
        </p:nvSpPr>
        <p:spPr bwMode="auto">
          <a:xfrm>
            <a:off x="657225" y="1130409"/>
            <a:ext cx="78295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>
              <a:buClr>
                <a:srgbClr val="000000"/>
              </a:buClr>
              <a:buSzPct val="45000"/>
              <a:buFont typeface="Wingdings"/>
              <a:buChar char="§"/>
              <a:defRPr/>
            </a:pPr>
            <a:r>
              <a:rPr lang="en-IN" sz="2400">
                <a:solidFill>
                  <a:srgbClr val="16355A"/>
                </a:solidFill>
              </a:rPr>
              <a:t>Incorporation of Suggestions of previous review </a:t>
            </a:r>
            <a:endParaRPr/>
          </a:p>
          <a:p>
            <a:pPr marL="857250" indent="-857250">
              <a:buClr>
                <a:srgbClr val="000000"/>
              </a:buClr>
              <a:buSzPct val="45000"/>
              <a:buFont typeface="Wingdings"/>
              <a:buChar char="§"/>
              <a:defRPr/>
            </a:pPr>
            <a:r>
              <a:rPr lang="en-IN" sz="2400">
                <a:solidFill>
                  <a:srgbClr val="16355A"/>
                </a:solidFill>
              </a:rPr>
              <a:t>Objectives </a:t>
            </a:r>
            <a:endParaRPr/>
          </a:p>
          <a:p>
            <a:pPr marL="857250" indent="-857250">
              <a:buClr>
                <a:srgbClr val="000000"/>
              </a:buClr>
              <a:buSzPct val="45000"/>
              <a:buFont typeface="Wingdings"/>
              <a:buChar char="§"/>
              <a:defRPr/>
            </a:pPr>
            <a:r>
              <a:rPr lang="en-IN" sz="2400">
                <a:solidFill>
                  <a:srgbClr val="16355A"/>
                </a:solidFill>
              </a:rPr>
              <a:t>Functional Requirements ( Modules description)</a:t>
            </a:r>
            <a:endParaRPr/>
          </a:p>
          <a:p>
            <a:pPr marL="857250" indent="-857250">
              <a:buClr>
                <a:srgbClr val="000000"/>
              </a:buClr>
              <a:buSzPct val="45000"/>
              <a:buFont typeface="Wingdings"/>
              <a:buChar char="§"/>
              <a:defRPr/>
            </a:pPr>
            <a:r>
              <a:rPr lang="en-IN" sz="2400">
                <a:solidFill>
                  <a:srgbClr val="16355A"/>
                </a:solidFill>
              </a:rPr>
              <a:t>Non-functional Requirements ( Relevant to the project )</a:t>
            </a:r>
            <a:endParaRPr/>
          </a:p>
          <a:p>
            <a:pPr marL="857250" indent="-857250">
              <a:buClr>
                <a:srgbClr val="000000"/>
              </a:buClr>
              <a:buSzPct val="45000"/>
              <a:buFont typeface="Wingdings"/>
              <a:buChar char="§"/>
              <a:defRPr/>
            </a:pPr>
            <a:r>
              <a:rPr lang="en-IN" sz="2400">
                <a:solidFill>
                  <a:srgbClr val="16355A"/>
                </a:solidFill>
              </a:rPr>
              <a:t>Architectural Design </a:t>
            </a:r>
            <a:endParaRPr/>
          </a:p>
          <a:p>
            <a:pPr marL="857250" indent="-857250">
              <a:buClr>
                <a:srgbClr val="000000"/>
              </a:buClr>
              <a:buSzPct val="45000"/>
              <a:buFont typeface="Wingdings"/>
              <a:buChar char="§"/>
              <a:defRPr/>
            </a:pPr>
            <a:r>
              <a:rPr lang="en-IN" sz="2400">
                <a:solidFill>
                  <a:srgbClr val="16355A"/>
                </a:solidFill>
              </a:rPr>
              <a:t>Modules identified</a:t>
            </a:r>
            <a:endParaRPr/>
          </a:p>
          <a:p>
            <a:pPr marL="857250" indent="-857250">
              <a:buClr>
                <a:srgbClr val="000000"/>
              </a:buClr>
              <a:buSzPct val="45000"/>
              <a:buFont typeface="Wingdings"/>
              <a:buChar char="§"/>
              <a:defRPr/>
            </a:pPr>
            <a:r>
              <a:rPr lang="en-IN" sz="2400">
                <a:solidFill>
                  <a:srgbClr val="16355A"/>
                </a:solidFill>
              </a:rPr>
              <a:t> System Design </a:t>
            </a:r>
            <a:endParaRPr/>
          </a:p>
          <a:p>
            <a:pPr marL="857250" indent="-857250">
              <a:buClr>
                <a:srgbClr val="000000"/>
              </a:buClr>
              <a:buSzPct val="45000"/>
              <a:buFont typeface="Wingdings"/>
              <a:buChar char="§"/>
              <a:defRPr/>
            </a:pPr>
            <a:r>
              <a:rPr lang="en-IN" sz="2400">
                <a:solidFill>
                  <a:srgbClr val="16355A"/>
                </a:solidFill>
              </a:rPr>
              <a:t> Implementation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328668" name="Title 1"/>
          <p:cNvSpPr>
            <a:spLocks noGrp="1"/>
          </p:cNvSpPr>
          <p:nvPr>
            <p:ph type="title"/>
          </p:nvPr>
        </p:nvSpPr>
        <p:spPr bwMode="auto">
          <a:xfrm>
            <a:off x="1417319" y="510540"/>
            <a:ext cx="6096001" cy="5924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IN" sz="3200" b="1">
                <a:solidFill>
                  <a:schemeClr val="tx1"/>
                </a:solidFill>
              </a:rPr>
              <a:t>Incorporation of Suggestions of previous review </a:t>
            </a:r>
            <a:br>
              <a:rPr lang="en-IN" sz="3200" b="1">
                <a:solidFill>
                  <a:schemeClr val="tx1"/>
                </a:solidFill>
              </a:rPr>
            </a:b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1915326113" name="Text Placeholder 5"/>
          <p:cNvSpPr>
            <a:spLocks noGrp="1"/>
          </p:cNvSpPr>
          <p:nvPr>
            <p:ph type="body" idx="1"/>
          </p:nvPr>
        </p:nvSpPr>
        <p:spPr bwMode="auto">
          <a:xfrm>
            <a:off x="304080" y="1727100"/>
            <a:ext cx="8733240" cy="3218280"/>
          </a:xfrm>
        </p:spPr>
        <p:txBody>
          <a:bodyPr/>
          <a:lstStyle/>
          <a:p>
            <a:pPr>
              <a:buFont typeface="Wingdings"/>
              <a:buChar char="Ø"/>
              <a:defRPr/>
            </a:pPr>
            <a:r>
              <a:rPr lang="en-US" b="1">
                <a:solidFill>
                  <a:schemeClr val="tx1"/>
                </a:solidFill>
              </a:rPr>
              <a:t>The following improvements were made: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Implemented temporal modeling using LSTM instead of frame-based decisions.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Added head pose estimation (Pitch, Yaw, Roll).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Improved data collection strategy with labeled sequences.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Added real-time inference buffer (30 frames) for stability.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Enhanced visual feedback for demo and validation.</a:t>
            </a:r>
            <a:endParaRPr/>
          </a:p>
          <a:p>
            <a:pPr>
              <a:buFont typeface="Wingdings"/>
              <a:buChar char="§"/>
              <a:defRPr/>
            </a:pPr>
            <a:endParaRPr lang="en-US">
              <a:solidFill>
                <a:schemeClr val="tx1"/>
              </a:solidFill>
            </a:endParaRPr>
          </a:p>
          <a:p>
            <a:pPr>
              <a:buFont typeface="Wingdings"/>
              <a:buChar char="ü"/>
              <a:defRPr/>
            </a:pPr>
            <a:r>
              <a:rPr lang="en-US">
                <a:solidFill>
                  <a:schemeClr val="tx1"/>
                </a:solidFill>
              </a:rPr>
              <a:t> These changes improved accuracy and real-time reliability.</a:t>
            </a:r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238194" name="Title 1"/>
          <p:cNvSpPr>
            <a:spLocks noGrp="1"/>
          </p:cNvSpPr>
          <p:nvPr>
            <p:ph type="title"/>
          </p:nvPr>
        </p:nvSpPr>
        <p:spPr bwMode="auto">
          <a:xfrm>
            <a:off x="1417319" y="510540"/>
            <a:ext cx="6096001" cy="5924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IN" sz="3200" b="1">
                <a:solidFill>
                  <a:schemeClr val="tx1"/>
                </a:solidFill>
              </a:rPr>
              <a:t>Objectives</a:t>
            </a:r>
            <a:br>
              <a:rPr lang="en-IN" sz="3200" b="1">
                <a:solidFill>
                  <a:schemeClr val="tx1"/>
                </a:solidFill>
              </a:rPr>
            </a:b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1451517749" name="Text Placeholder 5"/>
          <p:cNvSpPr>
            <a:spLocks noGrp="1"/>
          </p:cNvSpPr>
          <p:nvPr>
            <p:ph type="body" idx="1"/>
          </p:nvPr>
        </p:nvSpPr>
        <p:spPr bwMode="auto">
          <a:xfrm>
            <a:off x="319320" y="1567080"/>
            <a:ext cx="8733240" cy="3218280"/>
          </a:xfrm>
        </p:spPr>
        <p:txBody>
          <a:bodyPr/>
          <a:lstStyle/>
          <a:p>
            <a:pPr>
              <a:buFont typeface="Wingdings"/>
              <a:buChar char="Ø"/>
              <a:defRPr/>
            </a:pPr>
            <a:r>
              <a:rPr lang="en-US" b="1">
                <a:solidFill>
                  <a:schemeClr val="tx1"/>
                </a:solidFill>
              </a:rPr>
              <a:t>Primary Objective: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To </a:t>
            </a:r>
            <a:r>
              <a:rPr lang="en-US" b="1">
                <a:solidFill>
                  <a:schemeClr val="tx1"/>
                </a:solidFill>
              </a:rPr>
              <a:t>detect user focus or distraction in real time</a:t>
            </a:r>
            <a:r>
              <a:rPr lang="en-US">
                <a:solidFill>
                  <a:schemeClr val="tx1"/>
                </a:solidFill>
              </a:rPr>
              <a:t> using eye and head movement patterns.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  <a:p>
            <a:pPr>
              <a:buFont typeface="Wingdings"/>
              <a:buChar char="Ø"/>
              <a:defRPr/>
            </a:pPr>
            <a:r>
              <a:rPr lang="en-US" b="1">
                <a:solidFill>
                  <a:schemeClr val="tx1"/>
                </a:solidFill>
              </a:rPr>
              <a:t>Secondary Objectives: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Capture eye movement and head pose using webcam.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Extract meaningful features instead of raw pixels.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Use </a:t>
            </a:r>
            <a:r>
              <a:rPr lang="en-US" b="1">
                <a:solidFill>
                  <a:schemeClr val="tx1"/>
                </a:solidFill>
              </a:rPr>
              <a:t>deep learning (LSTM)</a:t>
            </a:r>
            <a:r>
              <a:rPr lang="en-US">
                <a:solidFill>
                  <a:schemeClr val="tx1"/>
                </a:solidFill>
              </a:rPr>
              <a:t> to learn temporal attention behavior.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Provide real-time visual feedback (Focused / Distracted).</a:t>
            </a:r>
            <a:endParaRPr/>
          </a:p>
          <a:p>
            <a:pPr>
              <a:buFont typeface="Wingdings"/>
              <a:buChar char="Ø"/>
              <a:defRPr/>
            </a:pPr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777398" name="Title 1"/>
          <p:cNvSpPr>
            <a:spLocks noGrp="1"/>
          </p:cNvSpPr>
          <p:nvPr>
            <p:ph type="title"/>
          </p:nvPr>
        </p:nvSpPr>
        <p:spPr bwMode="auto">
          <a:xfrm>
            <a:off x="1417319" y="510540"/>
            <a:ext cx="6096001" cy="5924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Functional Requirements</a:t>
            </a:r>
            <a:br>
              <a:rPr lang="en-IN" sz="3200" b="1">
                <a:solidFill>
                  <a:schemeClr val="tx1"/>
                </a:solidFill>
              </a:rPr>
            </a:b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1524734399" name="Text Placeholder 5"/>
          <p:cNvSpPr>
            <a:spLocks noGrp="1"/>
          </p:cNvSpPr>
          <p:nvPr>
            <p:ph type="body" idx="1"/>
          </p:nvPr>
        </p:nvSpPr>
        <p:spPr bwMode="auto">
          <a:xfrm>
            <a:off x="342900" y="1224180"/>
            <a:ext cx="8724900" cy="520800"/>
          </a:xfrm>
        </p:spPr>
        <p:txBody>
          <a:bodyPr/>
          <a:lstStyle/>
          <a:p>
            <a:pPr>
              <a:buFont typeface="Wingdings"/>
              <a:buChar char="Ø"/>
              <a:defRPr/>
            </a:pPr>
            <a:r>
              <a:rPr lang="en-IN" b="1">
                <a:solidFill>
                  <a:schemeClr val="tx1"/>
                </a:solidFill>
              </a:rPr>
              <a:t>Module Specification (Table 1)</a:t>
            </a:r>
            <a:r>
              <a:rPr lang="en-US" b="1">
                <a:solidFill>
                  <a:schemeClr val="tx1"/>
                </a:solidFill>
              </a:rPr>
              <a:t>:</a:t>
            </a:r>
            <a:endParaRPr/>
          </a:p>
          <a:p>
            <a:pPr>
              <a:buFont typeface="Wingdings"/>
              <a:buChar char="Ø"/>
              <a:defRPr/>
            </a:pPr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450153929" name="Table 1"/>
          <p:cNvGraphicFramePr>
            <a:graphicFrameLocks xmlns:a="http://schemas.openxmlformats.org/drawingml/2006/main" noGrp="1"/>
          </p:cNvGraphicFramePr>
          <p:nvPr/>
        </p:nvGraphicFramePr>
        <p:xfrm rot="0">
          <a:off x="552450" y="1676400"/>
          <a:ext cx="8039100" cy="325373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61060"/>
                <a:gridCol w="2004060"/>
                <a:gridCol w="1760220"/>
                <a:gridCol w="1859280"/>
                <a:gridCol w="1554480"/>
              </a:tblGrid>
              <a:tr h="230521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Module No.</a:t>
                      </a:r>
                      <a:endParaRPr lang="en-IN" sz="1000"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Module Name</a:t>
                      </a:r>
                      <a:endParaRPr lang="en-IN" sz="1000"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Input</a:t>
                      </a:r>
                      <a:endParaRPr lang="en-IN" sz="1000"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Process</a:t>
                      </a:r>
                      <a:endParaRPr lang="en-IN" sz="1000"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Output</a:t>
                      </a:r>
                      <a:endParaRPr lang="en-IN" sz="1000"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51459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1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Video Capture Module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Webcam feed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 b="1"/>
                        <a:t>Captures live video frames using OpenCV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Video frames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664679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2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Face Detection &amp; Landmark Module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Video frame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 b="1"/>
                        <a:t>Detects face and extracts 468 facial landmarks using MediaPipe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Facial landmark coordinates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664679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3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Eye Tracking Module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Eye-related landmarks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 b="1"/>
                        <a:t>Calculates iris center, eye movement, and blink ratio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Eye movement &amp; blink features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664679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4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Head Pose Estimation Module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Selected facial landmarks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 b="1"/>
                        <a:t>Computes pitch, yaw, roll using solvePnP algorithm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 b="1"/>
                        <a:t>Head pose angles (Pitch, Yaw, Roll)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51459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5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Feature Extraction Module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 b="1"/>
                        <a:t>Eye features + head pose angles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 b="1"/>
                        <a:t>Combines features into a fixed-length vector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000" b="1"/>
                        <a:t>9-dimensional feature vector</a:t>
                      </a:r>
                      <a:endParaRPr/>
                    </a:p>
                  </a:txBody>
                  <a:tcPr marL="67874" marR="67874" marT="33937" marB="33937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041770" name="Title 1"/>
          <p:cNvSpPr>
            <a:spLocks noGrp="1"/>
          </p:cNvSpPr>
          <p:nvPr>
            <p:ph type="title"/>
          </p:nvPr>
        </p:nvSpPr>
        <p:spPr bwMode="auto">
          <a:xfrm>
            <a:off x="1417319" y="510540"/>
            <a:ext cx="6096001" cy="5924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Functional Requirements</a:t>
            </a:r>
            <a:br>
              <a:rPr lang="en-IN" sz="3200" b="1">
                <a:solidFill>
                  <a:schemeClr val="tx1"/>
                </a:solidFill>
              </a:rPr>
            </a:b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1519301975" name="Text Placeholder 5"/>
          <p:cNvSpPr>
            <a:spLocks noGrp="1"/>
          </p:cNvSpPr>
          <p:nvPr>
            <p:ph type="body" idx="1"/>
          </p:nvPr>
        </p:nvSpPr>
        <p:spPr bwMode="auto">
          <a:xfrm>
            <a:off x="342900" y="1224180"/>
            <a:ext cx="8724900" cy="520800"/>
          </a:xfrm>
        </p:spPr>
        <p:txBody>
          <a:bodyPr/>
          <a:lstStyle/>
          <a:p>
            <a:pPr>
              <a:buFont typeface="Wingdings"/>
              <a:buChar char="Ø"/>
              <a:defRPr/>
            </a:pPr>
            <a:r>
              <a:rPr lang="en-IN" b="1">
                <a:solidFill>
                  <a:schemeClr val="tx1"/>
                </a:solidFill>
              </a:rPr>
              <a:t>Module Specification (Table 2)</a:t>
            </a:r>
            <a:r>
              <a:rPr lang="en-US" b="1">
                <a:solidFill>
                  <a:schemeClr val="tx1"/>
                </a:solidFill>
              </a:rPr>
              <a:t>:</a:t>
            </a:r>
            <a:endParaRPr/>
          </a:p>
          <a:p>
            <a:pPr>
              <a:buFont typeface="Wingdings"/>
              <a:buChar char="Ø"/>
              <a:defRPr/>
            </a:pPr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1181058215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594360" y="1676400"/>
          <a:ext cx="7970520" cy="3208992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906780"/>
                <a:gridCol w="2103120"/>
                <a:gridCol w="1470660"/>
                <a:gridCol w="1895856"/>
                <a:gridCol w="1594104"/>
              </a:tblGrid>
              <a:tr h="233794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Module No.</a:t>
                      </a:r>
                      <a:endParaRPr lang="en-IN" sz="1100"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Module Name</a:t>
                      </a:r>
                      <a:endParaRPr lang="en-IN" sz="1100"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Input</a:t>
                      </a:r>
                      <a:endParaRPr lang="en-IN" sz="1100"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Process</a:t>
                      </a:r>
                      <a:endParaRPr lang="en-IN" sz="1100"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Output</a:t>
                      </a:r>
                      <a:endParaRPr lang="en-IN" sz="1100"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525002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6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Sequence (Inference) Buffer Module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Feature vectors per frame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100" b="1"/>
                        <a:t>Stores last 30 frames as a sliding window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100" b="1"/>
                        <a:t>Feature sequence (1, 30, 9)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67812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7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fr-FR" sz="1100" b="1"/>
                        <a:t>Focus Classification Module (CNN + LSTM)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Feature sequence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100" b="1"/>
                        <a:t>Learns temporal patterns and predicts focus probability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Focused probability score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831254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8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Decision &amp; UI Display Module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Focus probability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100" b="1"/>
                        <a:t>Converts probability to Focused/Distracted and displays result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On-screen focus status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529344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9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Data Recording Module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Feature sequence + label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Saves labeled sequences as </a:t>
                      </a:r>
                      <a:r>
                        <a:rPr lang="en-IN" sz="1100" b="1">
                          <a:latin typeface="Courier New"/>
                        </a:rPr>
                        <a:t>.npy</a:t>
                      </a:r>
                      <a:r>
                        <a:rPr lang="en-IN" sz="1100" b="1"/>
                        <a:t> files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Training dataset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97912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10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Model Training Module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Recorded dataset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Trains CNN + LSTM model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100" b="1"/>
                        <a:t>Trained </a:t>
                      </a:r>
                      <a:r>
                        <a:rPr lang="en-IN" sz="1100" b="1"/>
                        <a:t>FocusSense</a:t>
                      </a:r>
                      <a:r>
                        <a:rPr lang="en-IN" sz="1100" b="1"/>
                        <a:t> model</a:t>
                      </a:r>
                      <a:endParaRPr/>
                    </a:p>
                  </a:txBody>
                  <a:tcPr marL="71173" marR="71173" marT="35586" marB="35586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01608" name="Title 1"/>
          <p:cNvSpPr>
            <a:spLocks noGrp="1"/>
          </p:cNvSpPr>
          <p:nvPr>
            <p:ph type="title"/>
          </p:nvPr>
        </p:nvSpPr>
        <p:spPr bwMode="auto">
          <a:xfrm>
            <a:off x="1417319" y="510540"/>
            <a:ext cx="6096001" cy="5924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Non-</a:t>
            </a:r>
            <a:r>
              <a:rPr lang="en-US" sz="3200" b="1"/>
              <a:t>Functional Requirements</a:t>
            </a:r>
            <a:br>
              <a:rPr lang="en-IN" sz="3200" b="1">
                <a:solidFill>
                  <a:schemeClr val="tx1"/>
                </a:solidFill>
              </a:rPr>
            </a:b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116863076" name="Text Placeholder 5"/>
          <p:cNvSpPr>
            <a:spLocks noGrp="1"/>
          </p:cNvSpPr>
          <p:nvPr>
            <p:ph type="body" idx="1"/>
          </p:nvPr>
        </p:nvSpPr>
        <p:spPr bwMode="auto">
          <a:xfrm>
            <a:off x="342900" y="1516380"/>
            <a:ext cx="8724900" cy="3505199"/>
          </a:xfrm>
        </p:spPr>
        <p:txBody>
          <a:bodyPr>
            <a:normAutofit lnSpcReduction="10000"/>
          </a:bodyPr>
          <a:lstStyle/>
          <a:p>
            <a:pPr>
              <a:buFont typeface="Wingdings"/>
              <a:buChar char="Ø"/>
              <a:defRPr/>
            </a:pPr>
            <a:r>
              <a:rPr lang="en-US" b="1">
                <a:solidFill>
                  <a:schemeClr val="tx1"/>
                </a:solidFill>
              </a:rPr>
              <a:t>Performance: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Real-time processing (15–30 FPS).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Low latency prediction.</a:t>
            </a:r>
            <a:endParaRPr/>
          </a:p>
          <a:p>
            <a:pPr>
              <a:buFont typeface="Wingdings"/>
              <a:buChar char="Ø"/>
              <a:defRPr/>
            </a:pPr>
            <a:r>
              <a:rPr lang="en-US" b="1">
                <a:solidFill>
                  <a:schemeClr val="tx1"/>
                </a:solidFill>
              </a:rPr>
              <a:t>Reliability: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Stable predictions using temporal buffering.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Handles small head movements without noise.</a:t>
            </a:r>
            <a:endParaRPr/>
          </a:p>
          <a:p>
            <a:pPr>
              <a:buFont typeface="Wingdings"/>
              <a:buChar char="Ø"/>
              <a:defRPr/>
            </a:pPr>
            <a:r>
              <a:rPr lang="en-US" b="1">
                <a:solidFill>
                  <a:schemeClr val="tx1"/>
                </a:solidFill>
              </a:rPr>
              <a:t>Usability: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Simple webcam-based system.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Clear on-screen feedback.</a:t>
            </a:r>
            <a:endParaRPr/>
          </a:p>
          <a:p>
            <a:pPr>
              <a:buFont typeface="Wingdings"/>
              <a:buChar char="Ø"/>
              <a:defRPr/>
            </a:pPr>
            <a:r>
              <a:rPr lang="en-US" b="1">
                <a:solidFill>
                  <a:schemeClr val="tx1"/>
                </a:solidFill>
              </a:rPr>
              <a:t>Scalability: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Can be extended with additional features later.</a:t>
            </a:r>
            <a:endParaRPr/>
          </a:p>
          <a:p>
            <a:pPr>
              <a:buFont typeface="Wingdings"/>
              <a:buChar char="Ø"/>
              <a:defRPr/>
            </a:pPr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499100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Architectural Design</a:t>
            </a:r>
            <a:endParaRPr/>
          </a:p>
        </p:txBody>
      </p:sp>
      <p:sp>
        <p:nvSpPr>
          <p:cNvPr id="18402881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1675" y="1286462"/>
            <a:ext cx="8520600" cy="3416400"/>
          </a:xfrm>
        </p:spPr>
        <p:txBody>
          <a:bodyPr/>
          <a:lstStyle/>
          <a:p>
            <a:pPr marL="114300" indent="0">
              <a:buNone/>
              <a:defRPr/>
            </a:pPr>
            <a:endParaRPr lang="en-US" sz="2400">
              <a:solidFill>
                <a:srgbClr val="16355A"/>
              </a:solidFill>
            </a:endParaRPr>
          </a:p>
          <a:p>
            <a:pPr>
              <a:defRPr/>
            </a:pPr>
            <a:endParaRPr lang="en-US"/>
          </a:p>
        </p:txBody>
      </p:sp>
      <p:pic>
        <p:nvPicPr>
          <p:cNvPr id="116998873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07920" y="1286462"/>
            <a:ext cx="6438899" cy="3773218"/>
          </a:xfrm>
          <a:prstGeom prst="rect">
            <a:avLst/>
          </a:prstGeom>
        </p:spPr>
      </p:pic>
      <p:sp>
        <p:nvSpPr>
          <p:cNvPr id="1093306327" name="TextBox 10"/>
          <p:cNvSpPr txBox="1"/>
          <p:nvPr/>
        </p:nvSpPr>
        <p:spPr bwMode="auto">
          <a:xfrm>
            <a:off x="391725" y="1286462"/>
            <a:ext cx="19583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/>
              <a:buChar char="Ø"/>
              <a:defRPr/>
            </a:pPr>
            <a:r>
              <a:rPr lang="en-US"/>
              <a:t>Architecture Type: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Modular, real-time, ML-based architecture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23101" name="Title 1"/>
          <p:cNvSpPr>
            <a:spLocks noGrp="1"/>
          </p:cNvSpPr>
          <p:nvPr>
            <p:ph type="title"/>
          </p:nvPr>
        </p:nvSpPr>
        <p:spPr bwMode="auto">
          <a:xfrm>
            <a:off x="424775" y="440638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Data/ Module Definition</a:t>
            </a:r>
            <a:endParaRPr/>
          </a:p>
        </p:txBody>
      </p:sp>
      <p:sp>
        <p:nvSpPr>
          <p:cNvPr id="1971219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8625" y="1013338"/>
            <a:ext cx="8520600" cy="3416400"/>
          </a:xfrm>
        </p:spPr>
        <p:txBody>
          <a:bodyPr/>
          <a:lstStyle/>
          <a:p>
            <a:pPr marL="457200" indent="-457200">
              <a:buFont typeface="Wingdings"/>
              <a:buChar char="Ø"/>
              <a:defRPr/>
            </a:pPr>
            <a:r>
              <a:rPr lang="en-IN" sz="2400">
                <a:solidFill>
                  <a:srgbClr val="16355A"/>
                </a:solidFill>
              </a:rPr>
              <a:t>Data definition(Feature Vector)</a:t>
            </a:r>
            <a:endParaRPr/>
          </a:p>
          <a:p>
            <a:pPr marL="457200" indent="-457200">
              <a:buFont typeface="Arial"/>
              <a:buChar char="•"/>
              <a:defRPr/>
            </a:pPr>
            <a:r>
              <a:rPr lang="en-IN">
                <a:solidFill>
                  <a:schemeClr val="tx1"/>
                </a:solidFill>
              </a:rPr>
              <a:t>Each frame produces a 9-dimensional vector:</a:t>
            </a:r>
            <a:endParaRPr/>
          </a:p>
          <a:p>
            <a:pPr>
              <a:defRPr/>
            </a:pPr>
            <a:endParaRPr lang="en-US"/>
          </a:p>
        </p:txBody>
      </p:sp>
      <p:graphicFrame>
        <p:nvGraphicFramePr>
          <p:cNvPr id="1758490244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800100" y="1889760"/>
          <a:ext cx="7741920" cy="31126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870960"/>
                <a:gridCol w="3870960"/>
              </a:tblGrid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1"/>
                        <a:t>Feature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1"/>
                        <a:t>Description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Pitch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Head up/down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Yaw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Head left/right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Roll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Head tilt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Eye X (L)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Left eye horizontal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Eye Y (L)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Left eye vertical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Eye X (R)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Right eye horizontal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Eye Y (R)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Right eye vertical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Blink Ratio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Eye closure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1126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Stability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0"/>
                        <a:t>Motion consistency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069060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Data/ Module Definition</a:t>
            </a:r>
            <a:endParaRPr/>
          </a:p>
        </p:txBody>
      </p:sp>
      <p:sp>
        <p:nvSpPr>
          <p:cNvPr id="17531637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1675" y="1286462"/>
            <a:ext cx="8520600" cy="3416400"/>
          </a:xfrm>
        </p:spPr>
        <p:txBody>
          <a:bodyPr>
            <a:normAutofit/>
          </a:bodyPr>
          <a:lstStyle/>
          <a:p>
            <a:pPr marL="342900">
              <a:buFont typeface="Wingdings"/>
              <a:buChar char="Ø"/>
              <a:defRPr/>
            </a:pPr>
            <a:r>
              <a:rPr lang="en-IN" sz="2000">
                <a:solidFill>
                  <a:srgbClr val="16355A"/>
                </a:solidFill>
              </a:rPr>
              <a:t>Module specification / Assumptions made:</a:t>
            </a:r>
            <a:endParaRPr/>
          </a:p>
          <a:p>
            <a:pPr marL="342900">
              <a:buFont typeface="Wingdings"/>
              <a:buChar char="Ø"/>
              <a:defRPr/>
            </a:pPr>
            <a:r>
              <a:rPr lang="en-US" sz="1900" b="1">
                <a:solidFill>
                  <a:schemeClr val="tx1"/>
                </a:solidFill>
              </a:rPr>
              <a:t>Assumptions:</a:t>
            </a:r>
            <a:endParaRPr/>
          </a:p>
          <a:p>
            <a:pPr marL="342900">
              <a:buFont typeface="Arial"/>
              <a:buChar char="•"/>
              <a:defRPr/>
            </a:pPr>
            <a:r>
              <a:rPr lang="en-US" sz="1900">
                <a:solidFill>
                  <a:schemeClr val="tx1"/>
                </a:solidFill>
              </a:rPr>
              <a:t>User face is visible to webcam.</a:t>
            </a:r>
            <a:endParaRPr/>
          </a:p>
          <a:p>
            <a:pPr marL="342900">
              <a:buFont typeface="Arial"/>
              <a:buChar char="•"/>
              <a:defRPr/>
            </a:pPr>
            <a:r>
              <a:rPr lang="en-US" sz="1900">
                <a:solidFill>
                  <a:schemeClr val="tx1"/>
                </a:solidFill>
              </a:rPr>
              <a:t>Lighting is reasonably stable.</a:t>
            </a:r>
            <a:endParaRPr/>
          </a:p>
          <a:p>
            <a:pPr marL="342900">
              <a:buFont typeface="Arial"/>
              <a:buChar char="•"/>
              <a:defRPr/>
            </a:pPr>
            <a:r>
              <a:rPr lang="en-US" sz="1900">
                <a:solidFill>
                  <a:schemeClr val="tx1"/>
                </a:solidFill>
              </a:rPr>
              <a:t>User is seated in front of screen.</a:t>
            </a:r>
            <a:endParaRPr/>
          </a:p>
          <a:p>
            <a:pPr marL="342900">
              <a:buFont typeface="Wingdings"/>
              <a:buChar char="Ø"/>
              <a:defRPr/>
            </a:pPr>
            <a:r>
              <a:rPr lang="en-US" sz="1900" b="1">
                <a:solidFill>
                  <a:schemeClr val="tx1"/>
                </a:solidFill>
              </a:rPr>
              <a:t>Specifications:</a:t>
            </a:r>
            <a:endParaRPr/>
          </a:p>
          <a:p>
            <a:pPr marL="342900">
              <a:buFont typeface="Arial"/>
              <a:buChar char="•"/>
              <a:defRPr/>
            </a:pPr>
            <a:r>
              <a:rPr lang="en-US" sz="1900">
                <a:solidFill>
                  <a:schemeClr val="tx1"/>
                </a:solidFill>
              </a:rPr>
              <a:t>Sequence length = 30 frames.</a:t>
            </a:r>
            <a:endParaRPr/>
          </a:p>
          <a:p>
            <a:pPr marL="342900">
              <a:buFont typeface="Arial"/>
              <a:buChar char="•"/>
              <a:defRPr/>
            </a:pPr>
            <a:r>
              <a:rPr lang="en-US" sz="1900">
                <a:solidFill>
                  <a:schemeClr val="tx1"/>
                </a:solidFill>
              </a:rPr>
              <a:t>Feature dimension = 9.</a:t>
            </a:r>
            <a:endParaRPr/>
          </a:p>
          <a:p>
            <a:pPr marL="342900">
              <a:buFont typeface="Arial"/>
              <a:buChar char="•"/>
              <a:defRPr/>
            </a:pPr>
            <a:r>
              <a:rPr lang="en-US" sz="1900">
                <a:solidFill>
                  <a:schemeClr val="tx1"/>
                </a:solidFill>
              </a:rPr>
              <a:t>Binary classification (Focused / Distracted).</a:t>
            </a:r>
            <a:endParaRPr lang="en-IN" sz="1900">
              <a:solidFill>
                <a:schemeClr val="tx1"/>
              </a:solidFill>
            </a:endParaRP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50660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System Design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8147951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1675" y="1286462"/>
            <a:ext cx="8520600" cy="3416400"/>
          </a:xfrm>
        </p:spPr>
        <p:txBody>
          <a:bodyPr>
            <a:normAutofit/>
          </a:bodyPr>
          <a:lstStyle/>
          <a:p>
            <a:pPr marL="342900">
              <a:buClr>
                <a:srgbClr val="000000"/>
              </a:buClr>
              <a:buSzPct val="45000"/>
              <a:buFont typeface="Wingdings"/>
              <a:buChar char="Ø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Object 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Modeling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endParaRPr/>
          </a:p>
          <a:p>
            <a:pPr marL="114300" indent="0">
              <a:buNone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           -Draw Class diagram 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323824600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91100" y="1121210"/>
            <a:ext cx="3322321" cy="39537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49717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System Design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4871812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1675" y="1286462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/>
              <a:buChar char="Ø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Dynamic 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Modeling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endParaRPr/>
          </a:p>
          <a:p>
            <a:pPr marL="114300" indent="0">
              <a:buNone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	-	-</a:t>
            </a:r>
            <a:endParaRPr/>
          </a:p>
          <a:p>
            <a:pPr marL="0" indent="0">
              <a:buClr>
                <a:srgbClr val="000000"/>
              </a:buClr>
              <a:buSzPct val="45000"/>
              <a:buNone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endParaRPr lang="en-US"/>
          </a:p>
        </p:txBody>
      </p:sp>
      <p:pic>
        <p:nvPicPr>
          <p:cNvPr id="17466074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47290" y="1875845"/>
            <a:ext cx="3444685" cy="2719145"/>
          </a:xfrm>
          <a:prstGeom prst="rect">
            <a:avLst/>
          </a:prstGeom>
        </p:spPr>
      </p:pic>
      <p:pic>
        <p:nvPicPr>
          <p:cNvPr id="420752137" name="Pictur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52027" y="1834248"/>
            <a:ext cx="4181393" cy="2760742"/>
          </a:xfrm>
          <a:prstGeom prst="rect">
            <a:avLst/>
          </a:prstGeom>
        </p:spPr>
      </p:pic>
      <p:sp>
        <p:nvSpPr>
          <p:cNvPr id="2112549801" name="TextBox 8"/>
          <p:cNvSpPr txBox="1"/>
          <p:nvPr/>
        </p:nvSpPr>
        <p:spPr bwMode="auto">
          <a:xfrm>
            <a:off x="1508759" y="4672627"/>
            <a:ext cx="2910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/>
              <a:t>Use case Diagram </a:t>
            </a:r>
            <a:endParaRPr/>
          </a:p>
        </p:txBody>
      </p:sp>
      <p:sp>
        <p:nvSpPr>
          <p:cNvPr id="607093729" name="TextBox 10"/>
          <p:cNvSpPr txBox="1"/>
          <p:nvPr/>
        </p:nvSpPr>
        <p:spPr bwMode="auto">
          <a:xfrm>
            <a:off x="5890260" y="4672627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/>
              <a:t>Sequence Diagram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046186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System Design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4177703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1675" y="1286462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/>
              <a:buChar char="Ø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Dynamic 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Modeling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endParaRPr/>
          </a:p>
          <a:p>
            <a:pPr marL="114300" indent="0">
              <a:buNone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            - Activity Diagram </a:t>
            </a:r>
            <a:endParaRPr/>
          </a:p>
          <a:p>
            <a:pPr marL="114300" indent="0">
              <a:buNone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endParaRPr/>
          </a:p>
          <a:p>
            <a:pPr marL="0" indent="0">
              <a:buClr>
                <a:srgbClr val="000000"/>
              </a:buClr>
              <a:buSzPct val="45000"/>
              <a:buNone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endParaRPr lang="en-US"/>
          </a:p>
        </p:txBody>
      </p:sp>
      <p:pic>
        <p:nvPicPr>
          <p:cNvPr id="570023317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57899" y="812264"/>
            <a:ext cx="2694375" cy="4168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190150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System Design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7608834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1675" y="1286462"/>
            <a:ext cx="8520600" cy="3416400"/>
          </a:xfrm>
        </p:spPr>
        <p:txBody>
          <a:bodyPr>
            <a:normAutofit/>
          </a:bodyPr>
          <a:lstStyle/>
          <a:p>
            <a:pPr marL="342900">
              <a:buClr>
                <a:srgbClr val="000000"/>
              </a:buClr>
              <a:buSzPct val="45000"/>
              <a:buFont typeface="Wingdings"/>
              <a:buChar char="Ø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Functional 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Modeling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: </a:t>
            </a:r>
            <a:endParaRPr/>
          </a:p>
          <a:p>
            <a:pPr marL="0" indent="0">
              <a:buClr>
                <a:srgbClr val="000000"/>
              </a:buClr>
              <a:buSzPct val="45000"/>
              <a:buNone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endParaRPr/>
          </a:p>
        </p:txBody>
      </p:sp>
      <p:pic>
        <p:nvPicPr>
          <p:cNvPr id="189597969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06750" y="1321015"/>
            <a:ext cx="5326710" cy="3416400"/>
          </a:xfrm>
          <a:prstGeom prst="rect">
            <a:avLst/>
          </a:prstGeom>
        </p:spPr>
      </p:pic>
      <p:sp>
        <p:nvSpPr>
          <p:cNvPr id="1430284212" name="TextBox 6"/>
          <p:cNvSpPr txBox="1"/>
          <p:nvPr/>
        </p:nvSpPr>
        <p:spPr bwMode="auto">
          <a:xfrm>
            <a:off x="4983480" y="47719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/>
              <a:t>Data Flow Diagrams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915302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System Design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13356098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1675" y="1286462"/>
            <a:ext cx="8520600" cy="3416400"/>
          </a:xfrm>
        </p:spPr>
        <p:txBody>
          <a:bodyPr>
            <a:normAutofit/>
          </a:bodyPr>
          <a:lstStyle/>
          <a:p>
            <a:pPr marL="342900">
              <a:buClr>
                <a:srgbClr val="000000"/>
              </a:buClr>
              <a:buSzPct val="45000"/>
              <a:buFont typeface="Wingdings"/>
              <a:buChar char="Ø"/>
              <a:defRPr/>
            </a:pPr>
            <a:r>
              <a:rPr lang="pt-BR" sz="2400" spc="-1">
                <a:solidFill>
                  <a:srgbClr val="000000"/>
                </a:solidFill>
                <a:latin typeface="Times New Roman"/>
                <a:cs typeface="Times New Roman"/>
              </a:rPr>
              <a:t>Database Design (ER Diagram):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Wingdings"/>
              <a:buChar char="Ø"/>
              <a:defRPr/>
            </a:pPr>
            <a:endParaRPr lang="pt-BR" sz="2400" spc="-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/>
          </a:p>
        </p:txBody>
      </p:sp>
      <p:pic>
        <p:nvPicPr>
          <p:cNvPr id="633642401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42441" y="1798320"/>
            <a:ext cx="7806258" cy="3223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20236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System Design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20107296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1675" y="1286462"/>
            <a:ext cx="8520600" cy="3416400"/>
          </a:xfrm>
        </p:spPr>
        <p:txBody>
          <a:bodyPr>
            <a:normAutofit/>
          </a:bodyPr>
          <a:lstStyle/>
          <a:p>
            <a:pPr marL="342900">
              <a:buClr>
                <a:srgbClr val="000000"/>
              </a:buClr>
              <a:buSzPct val="45000"/>
              <a:buFont typeface="Wingdings"/>
              <a:buChar char="Ø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Design Decisions:</a:t>
            </a:r>
            <a:endParaRPr lang="en-US"/>
          </a:p>
        </p:txBody>
      </p:sp>
      <p:graphicFrame>
        <p:nvGraphicFramePr>
          <p:cNvPr id="443514103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659457" y="2019302"/>
          <a:ext cx="8051236" cy="241553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025618"/>
                <a:gridCol w="4025618"/>
              </a:tblGrid>
              <a:tr h="37742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1"/>
                        <a:t>Decision</a:t>
                      </a:r>
                      <a:endParaRPr lang="en-IN"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1"/>
                        <a:t>Reason</a:t>
                      </a:r>
                      <a:endParaRPr lang="en-IN"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641627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/>
                        <a:t>Feature-based input instead of raw pixels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/>
                        <a:t>Reduces computation and enables real-time processing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641627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Use of LSTM model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/>
                        <a:t>Captures temporal behavior of attention over time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7742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/>
                        <a:t>Fixed sequence length (30 frames)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/>
                        <a:t>Ensures stable and smooth predictions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77428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Binary classification (Focused / Distracted)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Simple, interpretable, and effective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262945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System Design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18074772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1675" y="1286462"/>
            <a:ext cx="8520600" cy="3416400"/>
          </a:xfrm>
        </p:spPr>
        <p:txBody>
          <a:bodyPr>
            <a:normAutofit/>
          </a:bodyPr>
          <a:lstStyle/>
          <a:p>
            <a:pPr marL="342900">
              <a:buClr>
                <a:srgbClr val="000000"/>
              </a:buClr>
              <a:buSzPct val="45000"/>
              <a:buFont typeface="Wingdings"/>
              <a:buChar char="Ø"/>
              <a:defRPr/>
            </a:pPr>
            <a:r>
              <a:rPr lang="en-IN" sz="2400">
                <a:solidFill>
                  <a:schemeClr val="tx1"/>
                </a:solidFill>
              </a:rPr>
              <a:t>Assumptions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endParaRPr lang="en-US"/>
          </a:p>
        </p:txBody>
      </p:sp>
      <p:graphicFrame>
        <p:nvGraphicFramePr>
          <p:cNvPr id="965600615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692195" y="2041208"/>
          <a:ext cx="7985760" cy="143256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992880"/>
                <a:gridCol w="3992880"/>
              </a:tblGrid>
              <a:tr h="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1"/>
                        <a:t>Assumption</a:t>
                      </a:r>
                      <a:endParaRPr lang="en-IN"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User faces the camera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/>
                        <a:t>Required for accurate face and eye tracking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Adequate lighting conditions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/>
                        <a:t>Improves landmark and feature detection accuracy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Single user in frame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/>
                        <a:t>System is designed to track one face at a time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81965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Implementation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18241140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24775" y="1286462"/>
            <a:ext cx="8406804" cy="3788458"/>
          </a:xfrm>
        </p:spPr>
        <p:txBody>
          <a:bodyPr>
            <a:normAutofit fontScale="77500" lnSpcReduction="20000"/>
          </a:bodyPr>
          <a:lstStyle/>
          <a:p>
            <a:pPr marL="0" indent="0">
              <a:buClr>
                <a:srgbClr val="000000"/>
              </a:buClr>
              <a:buSzPct val="45000"/>
              <a:buNone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The 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FocusSense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 system has been partially implemented and validated as per   Phase-2 objectives. Core modules for data collection, model training, and real-time inference are functional.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Wingdings"/>
              <a:buChar char="Ø"/>
              <a:defRPr/>
            </a:pPr>
            <a:r>
              <a:rPr lang="en-IN" sz="2400" b="1" spc="-1">
                <a:solidFill>
                  <a:srgbClr val="000000"/>
                </a:solidFill>
                <a:latin typeface="Times New Roman"/>
                <a:cs typeface="Times New Roman"/>
              </a:rPr>
              <a:t>Completed Implementation Tasks: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Arial"/>
              <a:buChar char="•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Webcam-based face capture using OpenCV.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Arial"/>
              <a:buChar char="•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Facial landmark detection using 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MediaPipe</a:t>
            </a: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 Face Mesh.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Arial"/>
              <a:buChar char="•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Head pose estimation (Pitch, Yaw, Roll).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Arial"/>
              <a:buChar char="•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Eye movement and blink feature extraction.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Arial"/>
              <a:buChar char="•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Feature vector creation (9 features per frame).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Arial"/>
              <a:buChar char="•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Sequence buffering (30 frames per sample).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Arial"/>
              <a:buChar char="•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Data collection for Focused and Distracted states.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Arial"/>
              <a:buChar char="•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CNN + LSTM model training.</a:t>
            </a:r>
            <a:endParaRPr/>
          </a:p>
          <a:p>
            <a:pPr marL="342900">
              <a:buClr>
                <a:srgbClr val="000000"/>
              </a:buClr>
              <a:buSzPct val="45000"/>
              <a:buFont typeface="Arial"/>
              <a:buChar char="•"/>
              <a:defRPr/>
            </a:pPr>
            <a:r>
              <a:rPr lang="en-IN" sz="2400" spc="-1">
                <a:solidFill>
                  <a:srgbClr val="000000"/>
                </a:solidFill>
                <a:latin typeface="Times New Roman"/>
                <a:cs typeface="Times New Roman"/>
              </a:rPr>
              <a:t>Real-time focus inference and on-screen display.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636998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Implementation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1865273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24775" y="1286462"/>
            <a:ext cx="8406804" cy="3788458"/>
          </a:xfrm>
        </p:spPr>
        <p:txBody>
          <a:bodyPr>
            <a:normAutofit fontScale="92500" lnSpcReduction="20000"/>
          </a:bodyPr>
          <a:lstStyle/>
          <a:p>
            <a:pPr>
              <a:buFont typeface="Wingdings"/>
              <a:buChar char="Ø"/>
              <a:defRPr/>
            </a:pPr>
            <a:r>
              <a:rPr lang="en-US" b="1">
                <a:solidFill>
                  <a:schemeClr val="tx1"/>
                </a:solidFill>
              </a:rPr>
              <a:t>Model Implementation Status: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Model Type: </a:t>
            </a:r>
            <a:r>
              <a:rPr lang="en-US" b="1">
                <a:solidFill>
                  <a:schemeClr val="tx1"/>
                </a:solidFill>
              </a:rPr>
              <a:t>CNN (</a:t>
            </a:r>
            <a:r>
              <a:rPr lang="en-US" b="1">
                <a:solidFill>
                  <a:schemeClr val="tx1"/>
                </a:solidFill>
              </a:rPr>
              <a:t>TimeDistributed</a:t>
            </a:r>
            <a:r>
              <a:rPr lang="en-US" b="1">
                <a:solidFill>
                  <a:schemeClr val="tx1"/>
                </a:solidFill>
              </a:rPr>
              <a:t> Dense) + LSTM.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Input Shape: </a:t>
            </a:r>
            <a:r>
              <a:rPr lang="en-US" b="1">
                <a:solidFill>
                  <a:schemeClr val="tx1"/>
                </a:solidFill>
              </a:rPr>
              <a:t>(30 × 9) feature sequence.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Output: </a:t>
            </a:r>
            <a:r>
              <a:rPr lang="en-US" b="1">
                <a:solidFill>
                  <a:schemeClr val="tx1"/>
                </a:solidFill>
              </a:rPr>
              <a:t>Binary classification (Focused / Distracted).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Training Status: </a:t>
            </a:r>
            <a:r>
              <a:rPr lang="en-US" b="1">
                <a:solidFill>
                  <a:schemeClr val="tx1"/>
                </a:solidFill>
              </a:rPr>
              <a:t>Completed with ~85–88% validation accuracy.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Model successfully loaded and used during real-time execution.</a:t>
            </a:r>
            <a:endParaRPr/>
          </a:p>
          <a:p>
            <a:pPr marL="114300" indent="0">
              <a:buNone/>
              <a:defRPr/>
            </a:pP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  <a:p>
            <a:pPr>
              <a:buFont typeface="Wingdings"/>
              <a:buChar char="Ø"/>
              <a:defRPr/>
            </a:pPr>
            <a:r>
              <a:rPr lang="en-US" b="1">
                <a:solidFill>
                  <a:schemeClr val="tx1"/>
                </a:solidFill>
              </a:rPr>
              <a:t> Real-Time System Status: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Live webcam feed integrated.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Face landmarks and head pose visualized.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Inference buffer used for stable predictions.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Focus percentage displayed dynamically.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System responds correctly to head and gaze changes.</a:t>
            </a:r>
            <a:endParaRPr/>
          </a:p>
          <a:p>
            <a:pPr marL="0" indent="0">
              <a:buClr>
                <a:srgbClr val="000000"/>
              </a:buClr>
              <a:buSzPct val="45000"/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858406" name="Title 1"/>
          <p:cNvSpPr>
            <a:spLocks noGrp="1"/>
          </p:cNvSpPr>
          <p:nvPr>
            <p:ph type="title"/>
          </p:nvPr>
        </p:nvSpPr>
        <p:spPr bwMode="auto">
          <a:xfrm>
            <a:off x="424775" y="548510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Implementation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3224050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24775" y="1236270"/>
            <a:ext cx="8406804" cy="3788458"/>
          </a:xfrm>
        </p:spPr>
        <p:txBody>
          <a:bodyPr>
            <a:normAutofit/>
          </a:bodyPr>
          <a:lstStyle/>
          <a:p>
            <a:pPr>
              <a:buFont typeface="Wingdings"/>
              <a:buChar char="Ø"/>
              <a:defRPr/>
            </a:pPr>
            <a:r>
              <a:rPr lang="en-IN">
                <a:solidFill>
                  <a:schemeClr val="tx1"/>
                </a:solidFill>
              </a:rPr>
              <a:t>Current Progress Summary:</a:t>
            </a:r>
            <a:endParaRPr lang="en-US" b="1">
              <a:solidFill>
                <a:schemeClr val="tx1"/>
              </a:solidFill>
            </a:endParaRPr>
          </a:p>
          <a:p>
            <a:pPr marL="0" indent="0">
              <a:buClr>
                <a:srgbClr val="000000"/>
              </a:buClr>
              <a:buSzPct val="45000"/>
              <a:buNone/>
              <a:defRPr/>
            </a:pPr>
            <a:endParaRPr lang="en-US"/>
          </a:p>
        </p:txBody>
      </p:sp>
      <p:graphicFrame>
        <p:nvGraphicFramePr>
          <p:cNvPr id="847134904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759122" y="1606517"/>
          <a:ext cx="7738110" cy="21336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869055"/>
                <a:gridCol w="3869055"/>
              </a:tblGrid>
              <a:tr h="27984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1"/>
                        <a:t>Component</a:t>
                      </a:r>
                      <a:endParaRPr lang="en-IN"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b="1"/>
                        <a:t>Status</a:t>
                      </a:r>
                      <a:endParaRPr lang="en-IN"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7984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Data Collection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Completed (200+ samples)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7984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Feature Extraction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Completed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7984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Model Training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Completed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7984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Real-Time Inference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Completed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7984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UI Visualization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Completed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7984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Optimization &amp; Testing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/>
                        <a:t>Ongoing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71132184" name="TextBox 7"/>
          <p:cNvSpPr txBox="1"/>
          <p:nvPr/>
        </p:nvSpPr>
        <p:spPr bwMode="auto">
          <a:xfrm>
            <a:off x="666750" y="3740117"/>
            <a:ext cx="78105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/>
              <a:t>In Phase-2, we successfully implemented the complete pipeline from data collection to real-time focus inference.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The model is trained and integrated with live video input, and the system produces stable focus predictions.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Further optimization and enhancements are planned for the final phase.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370039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1426482" y="0"/>
            <a:ext cx="6672648" cy="1230312"/>
          </a:xfrm>
        </p:spPr>
        <p:txBody>
          <a:bodyPr>
            <a:normAutofit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cs typeface="ＭＳ Ｐゴシック"/>
              </a:rPr>
              <a:t>References</a:t>
            </a:r>
            <a:endParaRPr/>
          </a:p>
        </p:txBody>
      </p:sp>
      <p:sp>
        <p:nvSpPr>
          <p:cNvPr id="1809018949" name="TextBox 5"/>
          <p:cNvSpPr txBox="1"/>
          <p:nvPr/>
        </p:nvSpPr>
        <p:spPr bwMode="auto">
          <a:xfrm>
            <a:off x="701040" y="981105"/>
            <a:ext cx="78943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IN" sz="1800"/>
              <a:t>MediaPipe</a:t>
            </a:r>
            <a:r>
              <a:rPr lang="en-IN" sz="1800"/>
              <a:t> Face Mesh Documentation   GoogleResearchhttps://developers.google.com/mediapipe/solutions/vision/face_mesh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IN" sz="1800"/>
              <a:t>OpenCV Library </a:t>
            </a:r>
            <a:r>
              <a:rPr lang="en-IN" sz="1800"/>
              <a:t>DocumentationOpen</a:t>
            </a:r>
            <a:r>
              <a:rPr lang="en-IN" sz="1800"/>
              <a:t> Source Computer Vision Libraryhttps://docs.opencv.org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IN" sz="1800"/>
              <a:t>TensorFlow &amp; </a:t>
            </a:r>
            <a:r>
              <a:rPr lang="en-IN" sz="1800"/>
              <a:t>Keras</a:t>
            </a:r>
            <a:r>
              <a:rPr lang="en-IN" sz="1800"/>
              <a:t> </a:t>
            </a:r>
            <a:r>
              <a:rPr lang="en-IN" sz="1800"/>
              <a:t>DocumentationGoogle</a:t>
            </a:r>
            <a:r>
              <a:rPr lang="en-IN" sz="1800"/>
              <a:t> Brain Teamhttps://www.tensorflow.orghttps://keras.io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IN" sz="1800"/>
              <a:t>Recurrent Neural Networks (LSTM)Hochreiter, S. &amp; </a:t>
            </a:r>
            <a:r>
              <a:rPr lang="en-IN" sz="1800"/>
              <a:t>Schmidhuber</a:t>
            </a:r>
            <a:r>
              <a:rPr lang="en-IN" sz="1800"/>
              <a:t>, J., 1997Long Short-Term Memory, Neural Computation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IN" sz="1800"/>
              <a:t>Head Pose Estimation using </a:t>
            </a:r>
            <a:r>
              <a:rPr lang="en-IN" sz="1800"/>
              <a:t>solvePnPOpenCV</a:t>
            </a:r>
            <a:r>
              <a:rPr lang="en-IN" sz="1800"/>
              <a:t> Tutorialshttps://docs.opencv.org/4.x/d9/d0c/group__calib3d.html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IN" sz="1800"/>
              <a:t>Python Programming Language Documentationhttps://docs.python.org/3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IN" sz="1800"/>
              <a:t>Attention &amp; Eye-Tracking </a:t>
            </a:r>
            <a:r>
              <a:rPr lang="en-IN" sz="1800"/>
              <a:t>ConceptsDuchowski</a:t>
            </a:r>
            <a:r>
              <a:rPr lang="en-IN" sz="1800"/>
              <a:t>, A. T. (2007)Eye Tracking Methodology: Theory and Practice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199251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1601942" y="-513848"/>
            <a:ext cx="6672647" cy="1230311"/>
          </a:xfrm>
        </p:spPr>
        <p:txBody>
          <a:bodyPr>
            <a:normAutofit/>
          </a:bodyPr>
          <a:lstStyle/>
          <a:p>
            <a:pPr algn="ctr" defTabSz="914400">
              <a:defRPr/>
            </a:pPr>
            <a:endParaRPr/>
          </a:p>
        </p:txBody>
      </p:sp>
      <p:sp>
        <p:nvSpPr>
          <p:cNvPr id="1423565680" name="TextBox 5"/>
          <p:cNvSpPr txBox="1"/>
          <p:nvPr/>
        </p:nvSpPr>
        <p:spPr bwMode="auto">
          <a:xfrm>
            <a:off x="811505" y="2209328"/>
            <a:ext cx="7902959" cy="1036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800"/>
              <a:t>THANK YOU</a:t>
            </a:r>
            <a:endParaRPr sz="4800"/>
          </a:p>
          <a:p>
            <a:pPr marL="342900" indent="-342900">
              <a:buFont typeface="+mj-lt"/>
              <a:buAutoNum type="arabicPeriod"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ksj</dc:creator>
  <cp:lastModifiedBy/>
  <cp:revision>11</cp:revision>
  <dcterms:modified xsi:type="dcterms:W3CDTF">2026-01-21T09:51:04Z</dcterms:modified>
</cp:coreProperties>
</file>